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0" d="100"/>
          <a:sy n="100" d="100"/>
        </p:scale>
        <p:origin x="420" y="3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7.xml"/><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3.jpg"/><Relationship Id="rId1" Type="http://schemas.openxmlformats.org/officeDocument/2006/relationships/slideLayout" Target="../slideLayouts/slideLayout7.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ink.jpg"/>
          <p:cNvPicPr>
            <a:picLocks noChangeAspect="1"/>
          </p:cNvPicPr>
          <p:nvPr/>
        </p:nvPicPr>
        <p:blipFill>
          <a:blip r:embed="rId2"/>
          <a:stretch>
            <a:fillRect/>
          </a:stretch>
        </p:blipFill>
        <p:spPr>
          <a:xfrm>
            <a:off x="0" y="0"/>
            <a:ext cx="12191970" cy="6858000"/>
          </a:xfrm>
          <a:prstGeom prst="rect">
            <a:avLst/>
          </a:prstGeom>
        </p:spPr>
      </p:pic>
      <p:sp>
        <p:nvSpPr>
          <p:cNvPr id="3" name="TextBox 2"/>
          <p:cNvSpPr txBox="1"/>
          <p:nvPr/>
        </p:nvSpPr>
        <p:spPr>
          <a:xfrm>
            <a:off x="7818120" y="960120"/>
            <a:ext cx="4937760" cy="4023360"/>
          </a:xfrm>
          <a:prstGeom prst="rect">
            <a:avLst/>
          </a:prstGeom>
          <a:noFill/>
        </p:spPr>
        <p:txBody>
          <a:bodyPr wrap="square" lIns="0" tIns="0" rIns="0" bIns="0" anchor="t">
            <a:noAutofit/>
          </a:bodyPr>
          <a:lstStyle/>
          <a:p>
            <a:pPr algn="l">
              <a:lnSpc>
                <a:spcPct val="92000"/>
              </a:lnSpc>
            </a:pPr>
            <a:r>
              <a:rPr sz="21000" b="1" i="0">
                <a:solidFill>
                  <a:srgbClr val="282531"/>
                </a:solidFill>
                <a:latin typeface="Microsoft YaHei"/>
                <a:ea typeface="Microsoft YaHei"/>
                <a:cs typeface="Microsoft YaHei"/>
              </a:rPr>
              <a:t>西安</a:t>
            </a:r>
          </a:p>
        </p:txBody>
      </p:sp>
      <p:sp>
        <p:nvSpPr>
          <p:cNvPr id="4" name="Rectangle 3"/>
          <p:cNvSpPr/>
          <p:nvPr/>
        </p:nvSpPr>
        <p:spPr>
          <a:xfrm>
            <a:off x="384048" y="0"/>
            <a:ext cx="12700" cy="6858000"/>
          </a:xfrm>
          <a:prstGeom prst="rect">
            <a:avLst/>
          </a:prstGeom>
          <a:solidFill>
            <a:srgbClr val="3A322C"/>
          </a:solidFill>
          <a:ln>
            <a:noFill/>
          </a:ln>
          <a:effectLst/>
        </p:spPr>
        <p:txBody>
          <a:bodyPr wrap="square" rtlCol="0" anchor="ctr"/>
          <a:lstStyle/>
          <a:p>
            <a:pPr algn="ctr"/>
            <a:endParaRPr/>
          </a:p>
        </p:txBody>
      </p:sp>
      <p:sp>
        <p:nvSpPr>
          <p:cNvPr id="5" name="Rectangle 4"/>
          <p:cNvSpPr/>
          <p:nvPr/>
        </p:nvSpPr>
        <p:spPr>
          <a:xfrm>
            <a:off x="749808" y="617220"/>
            <a:ext cx="274320" cy="32004"/>
          </a:xfrm>
          <a:prstGeom prst="rect">
            <a:avLst/>
          </a:prstGeom>
          <a:solidFill>
            <a:srgbClr val="C79A45"/>
          </a:solidFill>
          <a:ln>
            <a:noFill/>
          </a:ln>
          <a:effectLst/>
        </p:spPr>
        <p:txBody>
          <a:bodyPr wrap="square" rtlCol="0" anchor="ctr"/>
          <a:lstStyle/>
          <a:p>
            <a:pPr algn="ctr"/>
            <a:endParaRPr/>
          </a:p>
        </p:txBody>
      </p:sp>
      <p:sp>
        <p:nvSpPr>
          <p:cNvPr id="6" name="TextBox 5"/>
          <p:cNvSpPr txBox="1"/>
          <p:nvPr/>
        </p:nvSpPr>
        <p:spPr>
          <a:xfrm>
            <a:off x="1152144" y="516636"/>
            <a:ext cx="10290018" cy="310896"/>
          </a:xfrm>
          <a:prstGeom prst="rect">
            <a:avLst/>
          </a:prstGeom>
          <a:noFill/>
        </p:spPr>
        <p:txBody>
          <a:bodyPr wrap="square" lIns="0" tIns="0" rIns="0" bIns="0" anchor="t">
            <a:noAutofit/>
          </a:bodyPr>
          <a:lstStyle/>
          <a:p>
            <a:pPr algn="l">
              <a:lnSpc>
                <a:spcPct val="100000"/>
              </a:lnSpc>
            </a:pPr>
            <a:r>
              <a:rPr sz="1050" b="0" i="0" spc="260">
                <a:solidFill>
                  <a:srgbClr val="C79A45"/>
                </a:solidFill>
                <a:latin typeface="Segoe UI Semibold"/>
              </a:rPr>
              <a:t>GROUP PRESENTATION  ·  AN INTERESTING PLACE</a:t>
            </a:r>
          </a:p>
        </p:txBody>
      </p:sp>
      <p:sp>
        <p:nvSpPr>
          <p:cNvPr id="7" name="TextBox 6"/>
          <p:cNvSpPr txBox="1"/>
          <p:nvPr/>
        </p:nvSpPr>
        <p:spPr>
          <a:xfrm>
            <a:off x="676656" y="1170432"/>
            <a:ext cx="9509760" cy="1737360"/>
          </a:xfrm>
          <a:prstGeom prst="rect">
            <a:avLst/>
          </a:prstGeom>
          <a:noFill/>
        </p:spPr>
        <p:txBody>
          <a:bodyPr wrap="square" lIns="0" tIns="0" rIns="0" bIns="0" anchor="t">
            <a:noAutofit/>
          </a:bodyPr>
          <a:lstStyle/>
          <a:p>
            <a:pPr algn="l">
              <a:lnSpc>
                <a:spcPct val="88000"/>
              </a:lnSpc>
            </a:pPr>
            <a:r>
              <a:rPr sz="11200" b="1" i="0" spc="300">
                <a:solidFill>
                  <a:srgbClr val="F7F2E9"/>
                </a:solidFill>
                <a:latin typeface="Georgia"/>
              </a:rPr>
              <a:t>XI'AN</a:t>
            </a:r>
          </a:p>
        </p:txBody>
      </p:sp>
      <p:sp>
        <p:nvSpPr>
          <p:cNvPr id="8" name="TextBox 7"/>
          <p:cNvSpPr txBox="1"/>
          <p:nvPr/>
        </p:nvSpPr>
        <p:spPr>
          <a:xfrm>
            <a:off x="749808" y="2688336"/>
            <a:ext cx="9509760" cy="457200"/>
          </a:xfrm>
          <a:prstGeom prst="rect">
            <a:avLst/>
          </a:prstGeom>
          <a:noFill/>
        </p:spPr>
        <p:txBody>
          <a:bodyPr wrap="square" lIns="0" tIns="0" rIns="0" bIns="0" anchor="t">
            <a:noAutofit/>
          </a:bodyPr>
          <a:lstStyle/>
          <a:p>
            <a:pPr algn="l">
              <a:lnSpc>
                <a:spcPct val="120000"/>
              </a:lnSpc>
            </a:pPr>
            <a:r>
              <a:rPr sz="1700" b="0" i="0">
                <a:solidFill>
                  <a:srgbClr val="E0C07A"/>
                </a:solidFill>
                <a:latin typeface="Segoe UI"/>
                <a:ea typeface="Microsoft YaHei"/>
                <a:cs typeface="Microsoft YaHei"/>
              </a:rPr>
              <a:t>西安   ·   once called Chang'an 长安, "lasting peace"</a:t>
            </a:r>
          </a:p>
        </p:txBody>
      </p:sp>
      <p:sp>
        <p:nvSpPr>
          <p:cNvPr id="9" name="Rectangle 8"/>
          <p:cNvSpPr/>
          <p:nvPr/>
        </p:nvSpPr>
        <p:spPr>
          <a:xfrm>
            <a:off x="749808" y="3200400"/>
            <a:ext cx="1600200" cy="20320"/>
          </a:xfrm>
          <a:prstGeom prst="rect">
            <a:avLst/>
          </a:prstGeom>
          <a:solidFill>
            <a:srgbClr val="C79A45"/>
          </a:solidFill>
          <a:ln>
            <a:noFill/>
          </a:ln>
          <a:effectLst/>
        </p:spPr>
        <p:txBody>
          <a:bodyPr wrap="square" rtlCol="0" anchor="ctr"/>
          <a:lstStyle/>
          <a:p>
            <a:pPr algn="ctr"/>
            <a:endParaRPr/>
          </a:p>
        </p:txBody>
      </p:sp>
      <p:sp>
        <p:nvSpPr>
          <p:cNvPr id="10" name="TextBox 9"/>
          <p:cNvSpPr txBox="1"/>
          <p:nvPr/>
        </p:nvSpPr>
        <p:spPr>
          <a:xfrm>
            <a:off x="749808" y="3401568"/>
            <a:ext cx="7132320" cy="1371600"/>
          </a:xfrm>
          <a:prstGeom prst="rect">
            <a:avLst/>
          </a:prstGeom>
          <a:noFill/>
        </p:spPr>
        <p:txBody>
          <a:bodyPr wrap="square" lIns="0" tIns="0" rIns="0" bIns="0" anchor="t">
            <a:noAutofit/>
          </a:bodyPr>
          <a:lstStyle/>
          <a:p>
            <a:pPr algn="l">
              <a:lnSpc>
                <a:spcPct val="124000"/>
              </a:lnSpc>
            </a:pPr>
            <a:r>
              <a:rPr sz="2400" b="0" i="0">
                <a:solidFill>
                  <a:srgbClr val="EEE4D2"/>
                </a:solidFill>
                <a:latin typeface="Georgia"/>
              </a:rPr>
              <a:t>Where ancient China still breathes.</a:t>
            </a:r>
          </a:p>
          <a:p>
            <a:pPr algn="l">
              <a:lnSpc>
                <a:spcPct val="130000"/>
              </a:lnSpc>
              <a:spcBef>
                <a:spcPts val="600"/>
              </a:spcBef>
            </a:pPr>
            <a:r>
              <a:rPr sz="1250" b="0" i="0">
                <a:solidFill>
                  <a:srgbClr val="96919C"/>
                </a:solidFill>
                <a:latin typeface="Segoe UI"/>
              </a:rPr>
              <a:t>3,100 years old  ·  capital of 13 dynasties  ·  home of the Terracotta Army</a:t>
            </a:r>
          </a:p>
        </p:txBody>
      </p:sp>
      <p:pic>
        <p:nvPicPr>
          <p:cNvPr id="11" name="Picture 10" descr="skyline.png"/>
          <p:cNvPicPr>
            <a:picLocks noChangeAspect="1"/>
          </p:cNvPicPr>
          <p:nvPr/>
        </p:nvPicPr>
        <p:blipFill>
          <a:blip r:embed="rId3">
            <a:alphaModFix amt="34000"/>
          </a:blip>
          <a:stretch>
            <a:fillRect/>
          </a:stretch>
        </p:blipFill>
        <p:spPr>
          <a:xfrm>
            <a:off x="0" y="4116522"/>
            <a:ext cx="12191970" cy="1104897"/>
          </a:xfrm>
          <a:prstGeom prst="rect">
            <a:avLst/>
          </a:prstGeom>
        </p:spPr>
      </p:pic>
      <p:sp>
        <p:nvSpPr>
          <p:cNvPr id="12" name="Rectangle 11"/>
          <p:cNvSpPr/>
          <p:nvPr/>
        </p:nvSpPr>
        <p:spPr>
          <a:xfrm>
            <a:off x="749808" y="5632704"/>
            <a:ext cx="9869394" cy="12700"/>
          </a:xfrm>
          <a:prstGeom prst="rect">
            <a:avLst/>
          </a:prstGeom>
          <a:solidFill>
            <a:srgbClr val="3A3E4C"/>
          </a:solidFill>
          <a:ln>
            <a:noFill/>
          </a:ln>
          <a:effectLst/>
        </p:spPr>
        <p:txBody>
          <a:bodyPr wrap="square" rtlCol="0" anchor="ctr"/>
          <a:lstStyle/>
          <a:p>
            <a:pPr algn="ctr"/>
            <a:endParaRPr/>
          </a:p>
        </p:txBody>
      </p:sp>
      <p:sp>
        <p:nvSpPr>
          <p:cNvPr id="13" name="TextBox 12"/>
          <p:cNvSpPr txBox="1"/>
          <p:nvPr/>
        </p:nvSpPr>
        <p:spPr>
          <a:xfrm>
            <a:off x="749808" y="5870448"/>
            <a:ext cx="10692354" cy="274320"/>
          </a:xfrm>
          <a:prstGeom prst="rect">
            <a:avLst/>
          </a:prstGeom>
          <a:noFill/>
        </p:spPr>
        <p:txBody>
          <a:bodyPr wrap="square" lIns="0" tIns="0" rIns="0" bIns="0" anchor="t">
            <a:noAutofit/>
          </a:bodyPr>
          <a:lstStyle/>
          <a:p>
            <a:pPr algn="l">
              <a:lnSpc>
                <a:spcPct val="100000"/>
              </a:lnSpc>
            </a:pPr>
            <a:r>
              <a:rPr sz="1000" b="1" i="0" spc="180">
                <a:solidFill>
                  <a:srgbClr val="C79A45"/>
                </a:solidFill>
                <a:latin typeface="Georgia"/>
              </a:rPr>
              <a:t>01  </a:t>
            </a:r>
            <a:r>
              <a:rPr sz="850" b="0" i="0" spc="180">
                <a:solidFill>
                  <a:srgbClr val="96919C"/>
                </a:solidFill>
                <a:latin typeface="Segoe UI"/>
              </a:rPr>
              <a:t>INTRODUCTION</a:t>
            </a:r>
            <a:r>
              <a:rPr sz="850" b="0" i="0" spc="180">
                <a:solidFill>
                  <a:srgbClr val="C79A45"/>
                </a:solidFill>
                <a:latin typeface="Segoe UI"/>
              </a:rPr>
              <a:t>     ·     </a:t>
            </a:r>
            <a:r>
              <a:rPr sz="1000" b="1" i="0" spc="180">
                <a:solidFill>
                  <a:srgbClr val="C79A45"/>
                </a:solidFill>
                <a:latin typeface="Georgia"/>
              </a:rPr>
              <a:t>02  </a:t>
            </a:r>
            <a:r>
              <a:rPr sz="850" b="0" i="0" spc="180">
                <a:solidFill>
                  <a:srgbClr val="96919C"/>
                </a:solidFill>
                <a:latin typeface="Segoe UI"/>
              </a:rPr>
              <a:t>FACTS</a:t>
            </a:r>
            <a:r>
              <a:rPr sz="850" b="0" i="0" spc="180">
                <a:solidFill>
                  <a:srgbClr val="C79A45"/>
                </a:solidFill>
                <a:latin typeface="Segoe UI"/>
              </a:rPr>
              <a:t>     ·     </a:t>
            </a:r>
            <a:r>
              <a:rPr sz="1000" b="1" i="0" spc="180">
                <a:solidFill>
                  <a:srgbClr val="C79A45"/>
                </a:solidFill>
                <a:latin typeface="Georgia"/>
              </a:rPr>
              <a:t>03  </a:t>
            </a:r>
            <a:r>
              <a:rPr sz="850" b="0" i="0" spc="180">
                <a:solidFill>
                  <a:srgbClr val="96919C"/>
                </a:solidFill>
                <a:latin typeface="Segoe UI"/>
              </a:rPr>
              <a:t>OPINION (POSITIVES)</a:t>
            </a:r>
            <a:r>
              <a:rPr sz="850" b="0" i="0" spc="180">
                <a:solidFill>
                  <a:srgbClr val="C79A45"/>
                </a:solidFill>
                <a:latin typeface="Segoe UI"/>
              </a:rPr>
              <a:t>     ·     </a:t>
            </a:r>
            <a:r>
              <a:rPr sz="1000" b="1" i="0" spc="180">
                <a:solidFill>
                  <a:srgbClr val="C79A45"/>
                </a:solidFill>
                <a:latin typeface="Georgia"/>
              </a:rPr>
              <a:t>04  </a:t>
            </a:r>
            <a:r>
              <a:rPr sz="850" b="0" i="0" spc="180">
                <a:solidFill>
                  <a:srgbClr val="96919C"/>
                </a:solidFill>
                <a:latin typeface="Segoe UI"/>
              </a:rPr>
              <a:t>OPINION (NEGATIVES)</a:t>
            </a:r>
            <a:r>
              <a:rPr sz="850" b="0" i="0" spc="180">
                <a:solidFill>
                  <a:srgbClr val="C79A45"/>
                </a:solidFill>
                <a:latin typeface="Segoe UI"/>
              </a:rPr>
              <a:t>     ·     </a:t>
            </a:r>
            <a:r>
              <a:rPr sz="1000" b="1" i="0" spc="180">
                <a:solidFill>
                  <a:srgbClr val="C79A45"/>
                </a:solidFill>
                <a:latin typeface="Georgia"/>
              </a:rPr>
              <a:t>05  </a:t>
            </a:r>
            <a:r>
              <a:rPr sz="850" b="0" i="0" spc="180">
                <a:solidFill>
                  <a:srgbClr val="96919C"/>
                </a:solidFill>
                <a:latin typeface="Segoe UI"/>
              </a:rPr>
              <a:t>SUMMARY</a:t>
            </a:r>
          </a:p>
        </p:txBody>
      </p:sp>
      <p:sp>
        <p:nvSpPr>
          <p:cNvPr id="14" name="Rounded Rectangle 13"/>
          <p:cNvSpPr/>
          <p:nvPr/>
        </p:nvSpPr>
        <p:spPr>
          <a:xfrm>
            <a:off x="10875234" y="5705856"/>
            <a:ext cx="566928" cy="566928"/>
          </a:xfrm>
          <a:prstGeom prst="roundRect">
            <a:avLst>
              <a:gd name="adj" fmla="val 14000"/>
            </a:avLst>
          </a:prstGeom>
          <a:solidFill>
            <a:srgbClr val="C33A2E"/>
          </a:solidFill>
          <a:ln>
            <a:noFill/>
          </a:ln>
          <a:effectLst/>
        </p:spPr>
        <p:txBody>
          <a:bodyPr wrap="square" rtlCol="0" anchor="ctr"/>
          <a:lstStyle/>
          <a:p>
            <a:pPr algn="ctr"/>
            <a:endParaRPr/>
          </a:p>
        </p:txBody>
      </p:sp>
      <p:sp>
        <p:nvSpPr>
          <p:cNvPr id="15" name="TextBox 14"/>
          <p:cNvSpPr txBox="1"/>
          <p:nvPr/>
        </p:nvSpPr>
        <p:spPr>
          <a:xfrm>
            <a:off x="10875234" y="5724144"/>
            <a:ext cx="566928" cy="530352"/>
          </a:xfrm>
          <a:prstGeom prst="rect">
            <a:avLst/>
          </a:prstGeom>
          <a:noFill/>
        </p:spPr>
        <p:txBody>
          <a:bodyPr wrap="square" lIns="0" tIns="0" rIns="0" bIns="0" anchor="ctr">
            <a:noAutofit/>
          </a:bodyPr>
          <a:lstStyle/>
          <a:p>
            <a:pPr algn="ctr">
              <a:lnSpc>
                <a:spcPct val="95000"/>
              </a:lnSpc>
            </a:pPr>
            <a:r>
              <a:rPr sz="1700" b="1" i="0">
                <a:solidFill>
                  <a:srgbClr val="F7F2E9"/>
                </a:solidFill>
                <a:latin typeface="Microsoft YaHei"/>
                <a:ea typeface="Microsoft YaHei"/>
                <a:cs typeface="Microsoft YaHei"/>
              </a:rPr>
              <a:t>长安</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paper.jpg"/>
          <p:cNvPicPr>
            <a:picLocks noChangeAspect="1"/>
          </p:cNvPicPr>
          <p:nvPr/>
        </p:nvPicPr>
        <p:blipFill>
          <a:blip r:embed="rId2"/>
          <a:stretch>
            <a:fillRect/>
          </a:stretch>
        </p:blipFill>
        <p:spPr>
          <a:xfrm>
            <a:off x="0" y="0"/>
            <a:ext cx="12191970" cy="6858000"/>
          </a:xfrm>
          <a:prstGeom prst="rect">
            <a:avLst/>
          </a:prstGeom>
        </p:spPr>
      </p:pic>
      <p:sp>
        <p:nvSpPr>
          <p:cNvPr id="3" name="Rectangle 2"/>
          <p:cNvSpPr/>
          <p:nvPr/>
        </p:nvSpPr>
        <p:spPr>
          <a:xfrm>
            <a:off x="749808" y="617220"/>
            <a:ext cx="274320" cy="32004"/>
          </a:xfrm>
          <a:prstGeom prst="rect">
            <a:avLst/>
          </a:prstGeom>
          <a:solidFill>
            <a:srgbClr val="C05C3C"/>
          </a:solidFill>
          <a:ln>
            <a:noFill/>
          </a:ln>
          <a:effectLst/>
        </p:spPr>
        <p:txBody>
          <a:bodyPr wrap="square" rtlCol="0" anchor="ctr"/>
          <a:lstStyle/>
          <a:p>
            <a:pPr algn="ctr"/>
            <a:endParaRPr/>
          </a:p>
        </p:txBody>
      </p:sp>
      <p:sp>
        <p:nvSpPr>
          <p:cNvPr id="4" name="TextBox 3"/>
          <p:cNvSpPr txBox="1"/>
          <p:nvPr/>
        </p:nvSpPr>
        <p:spPr>
          <a:xfrm>
            <a:off x="1152144" y="516636"/>
            <a:ext cx="10290018" cy="310896"/>
          </a:xfrm>
          <a:prstGeom prst="rect">
            <a:avLst/>
          </a:prstGeom>
          <a:noFill/>
        </p:spPr>
        <p:txBody>
          <a:bodyPr wrap="square" lIns="0" tIns="0" rIns="0" bIns="0" anchor="t">
            <a:noAutofit/>
          </a:bodyPr>
          <a:lstStyle/>
          <a:p>
            <a:pPr algn="l">
              <a:lnSpc>
                <a:spcPct val="100000"/>
              </a:lnSpc>
            </a:pPr>
            <a:r>
              <a:rPr sz="1050" b="0" i="0" spc="260">
                <a:solidFill>
                  <a:srgbClr val="C05C3C"/>
                </a:solidFill>
                <a:latin typeface="Segoe UI Semibold"/>
              </a:rPr>
              <a:t>01  ·  INTRODUCTION AND GENERAL FACTS</a:t>
            </a:r>
          </a:p>
        </p:txBody>
      </p:sp>
      <p:sp>
        <p:nvSpPr>
          <p:cNvPr id="5" name="TextBox 4"/>
          <p:cNvSpPr txBox="1"/>
          <p:nvPr/>
        </p:nvSpPr>
        <p:spPr>
          <a:xfrm>
            <a:off x="749808" y="768096"/>
            <a:ext cx="9623118" cy="640080"/>
          </a:xfrm>
          <a:prstGeom prst="rect">
            <a:avLst/>
          </a:prstGeom>
          <a:noFill/>
        </p:spPr>
        <p:txBody>
          <a:bodyPr wrap="square" lIns="0" tIns="0" rIns="0" bIns="0" anchor="t">
            <a:noAutofit/>
          </a:bodyPr>
          <a:lstStyle/>
          <a:p>
            <a:pPr algn="l">
              <a:lnSpc>
                <a:spcPct val="103000"/>
              </a:lnSpc>
            </a:pPr>
            <a:r>
              <a:rPr sz="3300" b="1" i="0">
                <a:solidFill>
                  <a:srgbClr val="171922"/>
                </a:solidFill>
                <a:latin typeface="Georgia"/>
              </a:rPr>
              <a:t>Where in the world is Xi'an?</a:t>
            </a:r>
          </a:p>
        </p:txBody>
      </p:sp>
      <p:sp>
        <p:nvSpPr>
          <p:cNvPr id="6" name="TextBox 5"/>
          <p:cNvSpPr txBox="1"/>
          <p:nvPr/>
        </p:nvSpPr>
        <p:spPr>
          <a:xfrm>
            <a:off x="749808" y="1316736"/>
            <a:ext cx="10354638" cy="493776"/>
          </a:xfrm>
          <a:prstGeom prst="rect">
            <a:avLst/>
          </a:prstGeom>
          <a:noFill/>
        </p:spPr>
        <p:txBody>
          <a:bodyPr wrap="square" lIns="0" tIns="0" rIns="0" bIns="0" anchor="t">
            <a:noAutofit/>
          </a:bodyPr>
          <a:lstStyle/>
          <a:p>
            <a:pPr algn="l">
              <a:lnSpc>
                <a:spcPct val="134000"/>
              </a:lnSpc>
            </a:pPr>
            <a:r>
              <a:rPr sz="1300" b="0" i="0">
                <a:solidFill>
                  <a:srgbClr val="7A7266"/>
                </a:solidFill>
                <a:latin typeface="Segoe UI"/>
              </a:rPr>
              <a:t>An ancient city in the northwest of China, and the best-known starting point of the Silk Road.</a:t>
            </a:r>
          </a:p>
        </p:txBody>
      </p:sp>
      <p:sp>
        <p:nvSpPr>
          <p:cNvPr id="7" name="Rectangle 6"/>
          <p:cNvSpPr/>
          <p:nvPr/>
        </p:nvSpPr>
        <p:spPr>
          <a:xfrm>
            <a:off x="749808" y="1847088"/>
            <a:ext cx="10692354" cy="13970"/>
          </a:xfrm>
          <a:prstGeom prst="rect">
            <a:avLst/>
          </a:prstGeom>
          <a:solidFill>
            <a:srgbClr val="D6C9B4"/>
          </a:solidFill>
          <a:ln>
            <a:noFill/>
          </a:ln>
          <a:effectLst/>
        </p:spPr>
        <p:txBody>
          <a:bodyPr wrap="square" rtlCol="0" anchor="ctr"/>
          <a:lstStyle/>
          <a:p>
            <a:pPr algn="ctr"/>
            <a:endParaRPr/>
          </a:p>
        </p:txBody>
      </p:sp>
      <p:sp>
        <p:nvSpPr>
          <p:cNvPr id="8" name="TextBox 7"/>
          <p:cNvSpPr txBox="1"/>
          <p:nvPr/>
        </p:nvSpPr>
        <p:spPr>
          <a:xfrm>
            <a:off x="749808" y="2084832"/>
            <a:ext cx="4937760" cy="237744"/>
          </a:xfrm>
          <a:prstGeom prst="rect">
            <a:avLst/>
          </a:prstGeom>
          <a:noFill/>
        </p:spPr>
        <p:txBody>
          <a:bodyPr wrap="square" lIns="0" tIns="0" rIns="0" bIns="0" anchor="t">
            <a:noAutofit/>
          </a:bodyPr>
          <a:lstStyle/>
          <a:p>
            <a:pPr algn="l">
              <a:lnSpc>
                <a:spcPct val="100000"/>
              </a:lnSpc>
            </a:pPr>
            <a:r>
              <a:rPr sz="950" b="0" i="0" spc="240">
                <a:solidFill>
                  <a:srgbClr val="C05C3C"/>
                </a:solidFill>
                <a:latin typeface="Segoe UI Semibold"/>
              </a:rPr>
              <a:t>NAME</a:t>
            </a:r>
          </a:p>
        </p:txBody>
      </p:sp>
      <p:sp>
        <p:nvSpPr>
          <p:cNvPr id="9" name="TextBox 8"/>
          <p:cNvSpPr txBox="1"/>
          <p:nvPr/>
        </p:nvSpPr>
        <p:spPr>
          <a:xfrm>
            <a:off x="749808" y="2340864"/>
            <a:ext cx="4937760" cy="292608"/>
          </a:xfrm>
          <a:prstGeom prst="rect">
            <a:avLst/>
          </a:prstGeom>
          <a:noFill/>
        </p:spPr>
        <p:txBody>
          <a:bodyPr wrap="square" lIns="0" tIns="0" rIns="0" bIns="0" anchor="t">
            <a:noAutofit/>
          </a:bodyPr>
          <a:lstStyle/>
          <a:p>
            <a:pPr algn="l">
              <a:lnSpc>
                <a:spcPct val="110000"/>
              </a:lnSpc>
            </a:pPr>
            <a:r>
              <a:rPr sz="1500" b="1" i="0">
                <a:solidFill>
                  <a:srgbClr val="171922"/>
                </a:solidFill>
                <a:latin typeface="Georgia"/>
                <a:ea typeface="Microsoft YaHei"/>
                <a:cs typeface="Microsoft YaHei"/>
              </a:rPr>
              <a:t>Xi'an  西安  —  "western peace"</a:t>
            </a:r>
          </a:p>
        </p:txBody>
      </p:sp>
      <p:sp>
        <p:nvSpPr>
          <p:cNvPr id="10" name="TextBox 9"/>
          <p:cNvSpPr txBox="1"/>
          <p:nvPr/>
        </p:nvSpPr>
        <p:spPr>
          <a:xfrm>
            <a:off x="749808" y="2688336"/>
            <a:ext cx="4800600" cy="548640"/>
          </a:xfrm>
          <a:prstGeom prst="rect">
            <a:avLst/>
          </a:prstGeom>
          <a:noFill/>
        </p:spPr>
        <p:txBody>
          <a:bodyPr wrap="square" lIns="0" tIns="0" rIns="0" bIns="0" anchor="t">
            <a:noAutofit/>
          </a:bodyPr>
          <a:lstStyle/>
          <a:p>
            <a:pPr algn="l">
              <a:lnSpc>
                <a:spcPct val="126000"/>
              </a:lnSpc>
            </a:pPr>
            <a:r>
              <a:rPr sz="1100" b="0" i="0">
                <a:solidFill>
                  <a:srgbClr val="7A7266"/>
                </a:solidFill>
                <a:latin typeface="Segoe UI"/>
              </a:rPr>
              <a:t>For a thousand years it was called Chang'an 长安, "lasting peace". The name changed in the Ming dynasty.</a:t>
            </a:r>
          </a:p>
        </p:txBody>
      </p:sp>
      <p:sp>
        <p:nvSpPr>
          <p:cNvPr id="11" name="TextBox 10"/>
          <p:cNvSpPr txBox="1"/>
          <p:nvPr/>
        </p:nvSpPr>
        <p:spPr>
          <a:xfrm>
            <a:off x="749808" y="3255264"/>
            <a:ext cx="4937760" cy="237744"/>
          </a:xfrm>
          <a:prstGeom prst="rect">
            <a:avLst/>
          </a:prstGeom>
          <a:noFill/>
        </p:spPr>
        <p:txBody>
          <a:bodyPr wrap="square" lIns="0" tIns="0" rIns="0" bIns="0" anchor="t">
            <a:noAutofit/>
          </a:bodyPr>
          <a:lstStyle/>
          <a:p>
            <a:pPr algn="l">
              <a:lnSpc>
                <a:spcPct val="100000"/>
              </a:lnSpc>
            </a:pPr>
            <a:r>
              <a:rPr sz="950" b="0" i="0" spc="240">
                <a:solidFill>
                  <a:srgbClr val="C05C3C"/>
                </a:solidFill>
                <a:latin typeface="Segoe UI Semibold"/>
              </a:rPr>
              <a:t>COUNTRY</a:t>
            </a:r>
          </a:p>
        </p:txBody>
      </p:sp>
      <p:sp>
        <p:nvSpPr>
          <p:cNvPr id="12" name="TextBox 11"/>
          <p:cNvSpPr txBox="1"/>
          <p:nvPr/>
        </p:nvSpPr>
        <p:spPr>
          <a:xfrm>
            <a:off x="749808" y="3511296"/>
            <a:ext cx="4937760" cy="292608"/>
          </a:xfrm>
          <a:prstGeom prst="rect">
            <a:avLst/>
          </a:prstGeom>
          <a:noFill/>
        </p:spPr>
        <p:txBody>
          <a:bodyPr wrap="square" lIns="0" tIns="0" rIns="0" bIns="0" anchor="t">
            <a:noAutofit/>
          </a:bodyPr>
          <a:lstStyle/>
          <a:p>
            <a:pPr algn="l">
              <a:lnSpc>
                <a:spcPct val="110000"/>
              </a:lnSpc>
            </a:pPr>
            <a:r>
              <a:rPr sz="1500" b="1" i="0">
                <a:solidFill>
                  <a:srgbClr val="171922"/>
                </a:solidFill>
                <a:latin typeface="Georgia"/>
                <a:ea typeface="Microsoft YaHei"/>
                <a:cs typeface="Microsoft YaHei"/>
              </a:rPr>
              <a:t>China  ·  Shaanxi Province  ·  Northwest China</a:t>
            </a:r>
          </a:p>
        </p:txBody>
      </p:sp>
      <p:sp>
        <p:nvSpPr>
          <p:cNvPr id="13" name="TextBox 12"/>
          <p:cNvSpPr txBox="1"/>
          <p:nvPr/>
        </p:nvSpPr>
        <p:spPr>
          <a:xfrm>
            <a:off x="749808" y="3858768"/>
            <a:ext cx="4800600" cy="548640"/>
          </a:xfrm>
          <a:prstGeom prst="rect">
            <a:avLst/>
          </a:prstGeom>
          <a:noFill/>
        </p:spPr>
        <p:txBody>
          <a:bodyPr wrap="square" lIns="0" tIns="0" rIns="0" bIns="0" anchor="t">
            <a:noAutofit/>
          </a:bodyPr>
          <a:lstStyle/>
          <a:p>
            <a:pPr algn="l">
              <a:lnSpc>
                <a:spcPct val="126000"/>
              </a:lnSpc>
            </a:pPr>
            <a:r>
              <a:rPr sz="1100" b="0" i="0">
                <a:solidFill>
                  <a:srgbClr val="7A7266"/>
                </a:solidFill>
                <a:latin typeface="Segoe UI"/>
              </a:rPr>
              <a:t>Also called the "Thirteen-Dynasty Ancient Capital" — with Athens, Rome and Cairo, one of the world's four great ancient capitals.</a:t>
            </a:r>
          </a:p>
        </p:txBody>
      </p:sp>
      <p:sp>
        <p:nvSpPr>
          <p:cNvPr id="14" name="TextBox 13"/>
          <p:cNvSpPr txBox="1"/>
          <p:nvPr/>
        </p:nvSpPr>
        <p:spPr>
          <a:xfrm>
            <a:off x="749808" y="4425696"/>
            <a:ext cx="4937760" cy="237744"/>
          </a:xfrm>
          <a:prstGeom prst="rect">
            <a:avLst/>
          </a:prstGeom>
          <a:noFill/>
        </p:spPr>
        <p:txBody>
          <a:bodyPr wrap="square" lIns="0" tIns="0" rIns="0" bIns="0" anchor="t">
            <a:noAutofit/>
          </a:bodyPr>
          <a:lstStyle/>
          <a:p>
            <a:pPr algn="l">
              <a:lnSpc>
                <a:spcPct val="100000"/>
              </a:lnSpc>
            </a:pPr>
            <a:r>
              <a:rPr sz="950" b="0" i="0" spc="240">
                <a:solidFill>
                  <a:srgbClr val="C05C3C"/>
                </a:solidFill>
                <a:latin typeface="Segoe UI Semibold"/>
              </a:rPr>
              <a:t>LOCATION</a:t>
            </a:r>
          </a:p>
        </p:txBody>
      </p:sp>
      <p:sp>
        <p:nvSpPr>
          <p:cNvPr id="15" name="TextBox 14"/>
          <p:cNvSpPr txBox="1"/>
          <p:nvPr/>
        </p:nvSpPr>
        <p:spPr>
          <a:xfrm>
            <a:off x="749808" y="4681728"/>
            <a:ext cx="4937760" cy="292608"/>
          </a:xfrm>
          <a:prstGeom prst="rect">
            <a:avLst/>
          </a:prstGeom>
          <a:noFill/>
        </p:spPr>
        <p:txBody>
          <a:bodyPr wrap="square" lIns="0" tIns="0" rIns="0" bIns="0" anchor="t">
            <a:noAutofit/>
          </a:bodyPr>
          <a:lstStyle/>
          <a:p>
            <a:pPr algn="l">
              <a:lnSpc>
                <a:spcPct val="110000"/>
              </a:lnSpc>
            </a:pPr>
            <a:r>
              <a:rPr sz="1500" b="1" i="0">
                <a:solidFill>
                  <a:srgbClr val="171922"/>
                </a:solidFill>
                <a:latin typeface="Georgia"/>
                <a:ea typeface="Microsoft YaHei"/>
                <a:cs typeface="Microsoft YaHei"/>
              </a:rPr>
              <a:t>34.3°N, 108.9°E  ·  the Guanzhong Plain</a:t>
            </a:r>
          </a:p>
        </p:txBody>
      </p:sp>
      <p:sp>
        <p:nvSpPr>
          <p:cNvPr id="16" name="TextBox 15"/>
          <p:cNvSpPr txBox="1"/>
          <p:nvPr/>
        </p:nvSpPr>
        <p:spPr>
          <a:xfrm>
            <a:off x="749808" y="5029200"/>
            <a:ext cx="4800600" cy="548640"/>
          </a:xfrm>
          <a:prstGeom prst="rect">
            <a:avLst/>
          </a:prstGeom>
          <a:noFill/>
        </p:spPr>
        <p:txBody>
          <a:bodyPr wrap="square" lIns="0" tIns="0" rIns="0" bIns="0" anchor="t">
            <a:noAutofit/>
          </a:bodyPr>
          <a:lstStyle/>
          <a:p>
            <a:pPr algn="l">
              <a:lnSpc>
                <a:spcPct val="126000"/>
              </a:lnSpc>
            </a:pPr>
            <a:r>
              <a:rPr sz="1100" b="0" i="0">
                <a:solidFill>
                  <a:srgbClr val="7A7266"/>
                </a:solidFill>
                <a:latin typeface="Segoe UI"/>
              </a:rPr>
              <a:t>Far from the sea, in a river valley surrounded by mountains — the door between the plains and the west.</a:t>
            </a:r>
          </a:p>
        </p:txBody>
      </p:sp>
      <p:sp>
        <p:nvSpPr>
          <p:cNvPr id="17" name="Rectangle 16"/>
          <p:cNvSpPr/>
          <p:nvPr/>
        </p:nvSpPr>
        <p:spPr>
          <a:xfrm>
            <a:off x="749808" y="5541264"/>
            <a:ext cx="4937760" cy="12700"/>
          </a:xfrm>
          <a:prstGeom prst="rect">
            <a:avLst/>
          </a:prstGeom>
          <a:solidFill>
            <a:srgbClr val="D6C9B4"/>
          </a:solidFill>
          <a:ln>
            <a:noFill/>
          </a:ln>
          <a:effectLst/>
        </p:spPr>
        <p:txBody>
          <a:bodyPr wrap="square" rtlCol="0" anchor="ctr"/>
          <a:lstStyle/>
          <a:p>
            <a:pPr algn="ctr"/>
            <a:endParaRPr/>
          </a:p>
        </p:txBody>
      </p:sp>
      <p:sp>
        <p:nvSpPr>
          <p:cNvPr id="18" name="TextBox 17"/>
          <p:cNvSpPr txBox="1"/>
          <p:nvPr/>
        </p:nvSpPr>
        <p:spPr>
          <a:xfrm>
            <a:off x="749808" y="5687568"/>
            <a:ext cx="4937760" cy="310896"/>
          </a:xfrm>
          <a:prstGeom prst="rect">
            <a:avLst/>
          </a:prstGeom>
          <a:noFill/>
        </p:spPr>
        <p:txBody>
          <a:bodyPr wrap="square" lIns="0" tIns="0" rIns="0" bIns="0" anchor="t">
            <a:noAutofit/>
          </a:bodyPr>
          <a:lstStyle/>
          <a:p>
            <a:pPr algn="l">
              <a:lnSpc>
                <a:spcPct val="120000"/>
              </a:lnSpc>
            </a:pPr>
            <a:r>
              <a:rPr sz="1300" b="1" i="0">
                <a:solidFill>
                  <a:srgbClr val="C05C3C"/>
                </a:solidFill>
                <a:latin typeface="Georgia"/>
              </a:rPr>
              <a:t>13.2 million</a:t>
            </a:r>
            <a:r>
              <a:rPr sz="1150" b="0" i="0">
                <a:solidFill>
                  <a:srgbClr val="7A7266"/>
                </a:solidFill>
                <a:latin typeface="Segoe UI"/>
              </a:rPr>
              <a:t> people   ·   </a:t>
            </a:r>
            <a:r>
              <a:rPr sz="1300" b="1" i="0">
                <a:solidFill>
                  <a:srgbClr val="C05C3C"/>
                </a:solidFill>
                <a:latin typeface="Georgia"/>
              </a:rPr>
              <a:t>4 h 10</a:t>
            </a:r>
            <a:r>
              <a:rPr sz="1150" b="0" i="0">
                <a:solidFill>
                  <a:srgbClr val="7A7266"/>
                </a:solidFill>
                <a:latin typeface="Segoe UI"/>
              </a:rPr>
              <a:t> from Beijing by train   ·   </a:t>
            </a:r>
            <a:r>
              <a:rPr sz="1300" b="1" i="0">
                <a:solidFill>
                  <a:srgbClr val="C05C3C"/>
                </a:solidFill>
                <a:latin typeface="Georgia"/>
              </a:rPr>
              <a:t>63</a:t>
            </a:r>
            <a:r>
              <a:rPr sz="1150" b="0" i="0">
                <a:solidFill>
                  <a:srgbClr val="7A7266"/>
                </a:solidFill>
                <a:latin typeface="Segoe UI"/>
              </a:rPr>
              <a:t> universities</a:t>
            </a:r>
          </a:p>
        </p:txBody>
      </p:sp>
      <p:sp>
        <p:nvSpPr>
          <p:cNvPr id="19" name="Rounded Rectangle 18"/>
          <p:cNvSpPr/>
          <p:nvPr/>
        </p:nvSpPr>
        <p:spPr>
          <a:xfrm>
            <a:off x="6035040" y="2084832"/>
            <a:ext cx="5404104" cy="3931920"/>
          </a:xfrm>
          <a:prstGeom prst="roundRect">
            <a:avLst>
              <a:gd name="adj" fmla="val 5500"/>
            </a:avLst>
          </a:prstGeom>
          <a:solidFill>
            <a:srgbClr val="EFE6D7"/>
          </a:solidFill>
          <a:ln w="11430">
            <a:solidFill>
              <a:srgbClr val="D6C9B4"/>
            </a:solidFill>
          </a:ln>
          <a:effectLst/>
        </p:spPr>
        <p:txBody>
          <a:bodyPr wrap="square" rtlCol="0" anchor="ctr"/>
          <a:lstStyle/>
          <a:p>
            <a:pPr algn="ctr"/>
            <a:endParaRPr/>
          </a:p>
        </p:txBody>
      </p:sp>
      <p:pic>
        <p:nvPicPr>
          <p:cNvPr id="20" name="Picture 19" descr="art_map.png"/>
          <p:cNvPicPr>
            <a:picLocks noChangeAspect="1"/>
          </p:cNvPicPr>
          <p:nvPr/>
        </p:nvPicPr>
        <p:blipFill>
          <a:blip r:embed="rId3"/>
          <a:stretch>
            <a:fillRect/>
          </a:stretch>
        </p:blipFill>
        <p:spPr>
          <a:xfrm>
            <a:off x="6291072" y="2359152"/>
            <a:ext cx="4892040" cy="3038214"/>
          </a:xfrm>
          <a:prstGeom prst="rect">
            <a:avLst/>
          </a:prstGeom>
        </p:spPr>
      </p:pic>
      <p:sp>
        <p:nvSpPr>
          <p:cNvPr id="21" name="TextBox 20"/>
          <p:cNvSpPr txBox="1"/>
          <p:nvPr/>
        </p:nvSpPr>
        <p:spPr>
          <a:xfrm>
            <a:off x="6291072" y="5504688"/>
            <a:ext cx="4892040" cy="420624"/>
          </a:xfrm>
          <a:prstGeom prst="rect">
            <a:avLst/>
          </a:prstGeom>
          <a:noFill/>
        </p:spPr>
        <p:txBody>
          <a:bodyPr wrap="square" lIns="0" tIns="0" rIns="0" bIns="0" anchor="t">
            <a:noAutofit/>
          </a:bodyPr>
          <a:lstStyle/>
          <a:p>
            <a:pPr algn="l">
              <a:lnSpc>
                <a:spcPct val="130000"/>
              </a:lnSpc>
            </a:pPr>
            <a:r>
              <a:rPr sz="1100" b="0" i="0">
                <a:solidFill>
                  <a:srgbClr val="7A7266"/>
                </a:solidFill>
                <a:latin typeface="Segoe UI"/>
              </a:rPr>
              <a:t>Xi'an sits in the centre of China's northwest — where the plains meet the deserts of the west.</a:t>
            </a:r>
          </a:p>
        </p:txBody>
      </p:sp>
      <p:sp>
        <p:nvSpPr>
          <p:cNvPr id="22" name="TextBox 21"/>
          <p:cNvSpPr txBox="1"/>
          <p:nvPr/>
        </p:nvSpPr>
        <p:spPr>
          <a:xfrm>
            <a:off x="749808" y="6455664"/>
            <a:ext cx="7484647" cy="237744"/>
          </a:xfrm>
          <a:prstGeom prst="rect">
            <a:avLst/>
          </a:prstGeom>
          <a:noFill/>
        </p:spPr>
        <p:txBody>
          <a:bodyPr wrap="square" lIns="0" tIns="0" rIns="0" bIns="0" anchor="t">
            <a:noAutofit/>
          </a:bodyPr>
          <a:lstStyle/>
          <a:p>
            <a:pPr algn="l">
              <a:lnSpc>
                <a:spcPct val="100000"/>
              </a:lnSpc>
            </a:pPr>
            <a:r>
              <a:rPr sz="800" b="0" i="0" spc="220">
                <a:solidFill>
                  <a:srgbClr val="A8A094"/>
                </a:solidFill>
                <a:latin typeface="Segoe UI"/>
              </a:rPr>
              <a:t>XI'AN  ·  AN INTERESTING PLACE</a:t>
            </a:r>
          </a:p>
        </p:txBody>
      </p:sp>
      <p:sp>
        <p:nvSpPr>
          <p:cNvPr id="23" name="TextBox 22"/>
          <p:cNvSpPr txBox="1"/>
          <p:nvPr/>
        </p:nvSpPr>
        <p:spPr>
          <a:xfrm>
            <a:off x="10344882" y="6441948"/>
            <a:ext cx="1097280" cy="256032"/>
          </a:xfrm>
          <a:prstGeom prst="rect">
            <a:avLst/>
          </a:prstGeom>
          <a:noFill/>
        </p:spPr>
        <p:txBody>
          <a:bodyPr wrap="square" lIns="0" tIns="0" rIns="0" bIns="0" anchor="t">
            <a:noAutofit/>
          </a:bodyPr>
          <a:lstStyle/>
          <a:p>
            <a:pPr algn="r">
              <a:lnSpc>
                <a:spcPct val="100000"/>
              </a:lnSpc>
            </a:pPr>
            <a:r>
              <a:rPr sz="1000" b="1" i="0">
                <a:solidFill>
                  <a:srgbClr val="C05C3C"/>
                </a:solidFill>
                <a:latin typeface="Georgia"/>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paper_brick.jpg"/>
          <p:cNvPicPr>
            <a:picLocks noChangeAspect="1"/>
          </p:cNvPicPr>
          <p:nvPr/>
        </p:nvPicPr>
        <p:blipFill>
          <a:blip r:embed="rId2"/>
          <a:stretch>
            <a:fillRect/>
          </a:stretch>
        </p:blipFill>
        <p:spPr>
          <a:xfrm>
            <a:off x="0" y="0"/>
            <a:ext cx="12191970" cy="6858000"/>
          </a:xfrm>
          <a:prstGeom prst="rect">
            <a:avLst/>
          </a:prstGeom>
        </p:spPr>
      </p:pic>
      <p:sp>
        <p:nvSpPr>
          <p:cNvPr id="3" name="Rectangle 2"/>
          <p:cNvSpPr/>
          <p:nvPr/>
        </p:nvSpPr>
        <p:spPr>
          <a:xfrm>
            <a:off x="749808" y="617220"/>
            <a:ext cx="274320" cy="32004"/>
          </a:xfrm>
          <a:prstGeom prst="rect">
            <a:avLst/>
          </a:prstGeom>
          <a:solidFill>
            <a:srgbClr val="C05C3C"/>
          </a:solidFill>
          <a:ln>
            <a:noFill/>
          </a:ln>
          <a:effectLst/>
        </p:spPr>
        <p:txBody>
          <a:bodyPr wrap="square" rtlCol="0" anchor="ctr"/>
          <a:lstStyle/>
          <a:p>
            <a:pPr algn="ctr"/>
            <a:endParaRPr/>
          </a:p>
        </p:txBody>
      </p:sp>
      <p:sp>
        <p:nvSpPr>
          <p:cNvPr id="4" name="TextBox 3"/>
          <p:cNvSpPr txBox="1"/>
          <p:nvPr/>
        </p:nvSpPr>
        <p:spPr>
          <a:xfrm>
            <a:off x="1152144" y="516636"/>
            <a:ext cx="10290018" cy="310896"/>
          </a:xfrm>
          <a:prstGeom prst="rect">
            <a:avLst/>
          </a:prstGeom>
          <a:noFill/>
        </p:spPr>
        <p:txBody>
          <a:bodyPr wrap="square" lIns="0" tIns="0" rIns="0" bIns="0" anchor="t">
            <a:noAutofit/>
          </a:bodyPr>
          <a:lstStyle/>
          <a:p>
            <a:pPr algn="l">
              <a:lnSpc>
                <a:spcPct val="100000"/>
              </a:lnSpc>
            </a:pPr>
            <a:r>
              <a:rPr sz="1050" b="0" i="0" spc="260">
                <a:solidFill>
                  <a:srgbClr val="C05C3C"/>
                </a:solidFill>
                <a:latin typeface="Segoe UI Semibold"/>
              </a:rPr>
              <a:t>02  ·  FACTS</a:t>
            </a:r>
          </a:p>
        </p:txBody>
      </p:sp>
      <p:sp>
        <p:nvSpPr>
          <p:cNvPr id="5" name="TextBox 4"/>
          <p:cNvSpPr txBox="1"/>
          <p:nvPr/>
        </p:nvSpPr>
        <p:spPr>
          <a:xfrm>
            <a:off x="749808" y="768096"/>
            <a:ext cx="9623118" cy="640080"/>
          </a:xfrm>
          <a:prstGeom prst="rect">
            <a:avLst/>
          </a:prstGeom>
          <a:noFill/>
        </p:spPr>
        <p:txBody>
          <a:bodyPr wrap="square" lIns="0" tIns="0" rIns="0" bIns="0" anchor="t">
            <a:noAutofit/>
          </a:bodyPr>
          <a:lstStyle/>
          <a:p>
            <a:pPr algn="l">
              <a:lnSpc>
                <a:spcPct val="103000"/>
              </a:lnSpc>
            </a:pPr>
            <a:r>
              <a:rPr sz="3300" b="1" i="0">
                <a:solidFill>
                  <a:srgbClr val="171922"/>
                </a:solidFill>
                <a:latin typeface="Georgia"/>
              </a:rPr>
              <a:t>How old — and who made it</a:t>
            </a:r>
          </a:p>
        </p:txBody>
      </p:sp>
      <p:sp>
        <p:nvSpPr>
          <p:cNvPr id="6" name="TextBox 5"/>
          <p:cNvSpPr txBox="1"/>
          <p:nvPr/>
        </p:nvSpPr>
        <p:spPr>
          <a:xfrm>
            <a:off x="749808" y="1316736"/>
            <a:ext cx="10354638" cy="493776"/>
          </a:xfrm>
          <a:prstGeom prst="rect">
            <a:avLst/>
          </a:prstGeom>
          <a:noFill/>
        </p:spPr>
        <p:txBody>
          <a:bodyPr wrap="square" lIns="0" tIns="0" rIns="0" bIns="0" anchor="t">
            <a:noAutofit/>
          </a:bodyPr>
          <a:lstStyle/>
          <a:p>
            <a:pPr algn="l">
              <a:lnSpc>
                <a:spcPct val="134000"/>
              </a:lnSpc>
            </a:pPr>
            <a:r>
              <a:rPr sz="1300" b="0" i="0">
                <a:solidFill>
                  <a:srgbClr val="7A7266"/>
                </a:solidFill>
                <a:latin typeface="Segoe UI"/>
              </a:rPr>
              <a:t>Over 3,000 years old and an ancient capital of 13 dynasties — but not made by one person.</a:t>
            </a:r>
          </a:p>
        </p:txBody>
      </p:sp>
      <p:sp>
        <p:nvSpPr>
          <p:cNvPr id="7" name="Rectangle 6"/>
          <p:cNvSpPr/>
          <p:nvPr/>
        </p:nvSpPr>
        <p:spPr>
          <a:xfrm>
            <a:off x="749808" y="1847088"/>
            <a:ext cx="10692354" cy="13970"/>
          </a:xfrm>
          <a:prstGeom prst="rect">
            <a:avLst/>
          </a:prstGeom>
          <a:solidFill>
            <a:srgbClr val="D6C9B4"/>
          </a:solidFill>
          <a:ln>
            <a:noFill/>
          </a:ln>
          <a:effectLst/>
        </p:spPr>
        <p:txBody>
          <a:bodyPr wrap="square" rtlCol="0" anchor="ctr"/>
          <a:lstStyle/>
          <a:p>
            <a:pPr algn="ctr"/>
            <a:endParaRPr/>
          </a:p>
        </p:txBody>
      </p:sp>
      <p:sp>
        <p:nvSpPr>
          <p:cNvPr id="8" name="TextBox 7"/>
          <p:cNvSpPr txBox="1"/>
          <p:nvPr/>
        </p:nvSpPr>
        <p:spPr>
          <a:xfrm>
            <a:off x="749808" y="1956816"/>
            <a:ext cx="6766560" cy="219456"/>
          </a:xfrm>
          <a:prstGeom prst="rect">
            <a:avLst/>
          </a:prstGeom>
          <a:noFill/>
        </p:spPr>
        <p:txBody>
          <a:bodyPr wrap="square" lIns="0" tIns="0" rIns="0" bIns="0" anchor="t">
            <a:noAutofit/>
          </a:bodyPr>
          <a:lstStyle/>
          <a:p>
            <a:pPr algn="l">
              <a:lnSpc>
                <a:spcPct val="100000"/>
              </a:lnSpc>
            </a:pPr>
            <a:r>
              <a:rPr sz="900" b="0" i="0" spc="240">
                <a:solidFill>
                  <a:srgbClr val="C05C3C"/>
                </a:solidFill>
                <a:latin typeface="Segoe UI Semibold"/>
              </a:rPr>
              <a:t>WHO MADE IT?</a:t>
            </a:r>
          </a:p>
        </p:txBody>
      </p:sp>
      <p:sp>
        <p:nvSpPr>
          <p:cNvPr id="9" name="TextBox 8"/>
          <p:cNvSpPr txBox="1"/>
          <p:nvPr/>
        </p:nvSpPr>
        <p:spPr>
          <a:xfrm>
            <a:off x="2167128" y="1975104"/>
            <a:ext cx="7315200" cy="219456"/>
          </a:xfrm>
          <a:prstGeom prst="rect">
            <a:avLst/>
          </a:prstGeom>
          <a:noFill/>
        </p:spPr>
        <p:txBody>
          <a:bodyPr wrap="square" lIns="0" tIns="0" rIns="0" bIns="0" anchor="t">
            <a:noAutofit/>
          </a:bodyPr>
          <a:lstStyle/>
          <a:p>
            <a:pPr algn="l">
              <a:lnSpc>
                <a:spcPct val="100000"/>
              </a:lnSpc>
            </a:pPr>
            <a:r>
              <a:rPr sz="1100" b="0" i="0">
                <a:solidFill>
                  <a:srgbClr val="7A7266"/>
                </a:solidFill>
                <a:latin typeface="Segoe UI"/>
              </a:rPr>
              <a:t>Xi'an grew over time — four dynasties built it.</a:t>
            </a:r>
          </a:p>
        </p:txBody>
      </p:sp>
      <p:sp>
        <p:nvSpPr>
          <p:cNvPr id="10" name="Rectangle 9"/>
          <p:cNvSpPr/>
          <p:nvPr/>
        </p:nvSpPr>
        <p:spPr>
          <a:xfrm>
            <a:off x="749808" y="2231136"/>
            <a:ext cx="2467348" cy="17780"/>
          </a:xfrm>
          <a:prstGeom prst="rect">
            <a:avLst/>
          </a:prstGeom>
          <a:solidFill>
            <a:srgbClr val="C79A45"/>
          </a:solidFill>
          <a:ln>
            <a:noFill/>
          </a:ln>
          <a:effectLst/>
        </p:spPr>
        <p:txBody>
          <a:bodyPr wrap="square" rtlCol="0" anchor="ctr"/>
          <a:lstStyle/>
          <a:p>
            <a:pPr algn="ctr"/>
            <a:endParaRPr/>
          </a:p>
        </p:txBody>
      </p:sp>
      <p:sp>
        <p:nvSpPr>
          <p:cNvPr id="11" name="TextBox 10"/>
          <p:cNvSpPr txBox="1"/>
          <p:nvPr/>
        </p:nvSpPr>
        <p:spPr>
          <a:xfrm>
            <a:off x="749808" y="2322576"/>
            <a:ext cx="2467348" cy="256032"/>
          </a:xfrm>
          <a:prstGeom prst="rect">
            <a:avLst/>
          </a:prstGeom>
          <a:noFill/>
        </p:spPr>
        <p:txBody>
          <a:bodyPr wrap="square" lIns="0" tIns="0" rIns="0" bIns="0" anchor="t">
            <a:noAutofit/>
          </a:bodyPr>
          <a:lstStyle/>
          <a:p>
            <a:pPr algn="l">
              <a:lnSpc>
                <a:spcPct val="105000"/>
              </a:lnSpc>
            </a:pPr>
            <a:r>
              <a:rPr sz="1400" b="1" i="0">
                <a:solidFill>
                  <a:srgbClr val="171922"/>
                </a:solidFill>
                <a:latin typeface="Georgia"/>
              </a:rPr>
              <a:t>Zhou</a:t>
            </a:r>
          </a:p>
        </p:txBody>
      </p:sp>
      <p:sp>
        <p:nvSpPr>
          <p:cNvPr id="12" name="TextBox 11"/>
          <p:cNvSpPr txBox="1"/>
          <p:nvPr/>
        </p:nvSpPr>
        <p:spPr>
          <a:xfrm>
            <a:off x="749808" y="2615184"/>
            <a:ext cx="2467348" cy="182880"/>
          </a:xfrm>
          <a:prstGeom prst="rect">
            <a:avLst/>
          </a:prstGeom>
          <a:noFill/>
        </p:spPr>
        <p:txBody>
          <a:bodyPr wrap="square" lIns="0" tIns="0" rIns="0" bIns="0" anchor="t">
            <a:noAutofit/>
          </a:bodyPr>
          <a:lstStyle/>
          <a:p>
            <a:pPr algn="l">
              <a:lnSpc>
                <a:spcPct val="100000"/>
              </a:lnSpc>
            </a:pPr>
            <a:r>
              <a:rPr sz="850" b="0" i="0" spc="180">
                <a:solidFill>
                  <a:srgbClr val="C05C3C"/>
                </a:solidFill>
                <a:latin typeface="Segoe UI Semibold"/>
              </a:rPr>
              <a:t>ABOUT 3,000 YEARS AGO</a:t>
            </a:r>
          </a:p>
        </p:txBody>
      </p:sp>
      <p:sp>
        <p:nvSpPr>
          <p:cNvPr id="13" name="TextBox 12"/>
          <p:cNvSpPr txBox="1"/>
          <p:nvPr/>
        </p:nvSpPr>
        <p:spPr>
          <a:xfrm>
            <a:off x="749808" y="2834640"/>
            <a:ext cx="2467348" cy="713232"/>
          </a:xfrm>
          <a:prstGeom prst="rect">
            <a:avLst/>
          </a:prstGeom>
          <a:noFill/>
        </p:spPr>
        <p:txBody>
          <a:bodyPr wrap="square" lIns="0" tIns="0" rIns="0" bIns="0" anchor="t">
            <a:noAutofit/>
          </a:bodyPr>
          <a:lstStyle/>
          <a:p>
            <a:pPr algn="l">
              <a:lnSpc>
                <a:spcPct val="126000"/>
              </a:lnSpc>
            </a:pPr>
            <a:r>
              <a:rPr sz="1050" b="0" i="0">
                <a:solidFill>
                  <a:srgbClr val="7A7266"/>
                </a:solidFill>
                <a:latin typeface="Segoe UI"/>
              </a:rPr>
              <a:t>King Wen built Feng Jing and King Wu built Gao Jing. This is where the history of Xi'an begins.</a:t>
            </a:r>
          </a:p>
        </p:txBody>
      </p:sp>
      <p:sp>
        <p:nvSpPr>
          <p:cNvPr id="14" name="Rectangle 13"/>
          <p:cNvSpPr/>
          <p:nvPr/>
        </p:nvSpPr>
        <p:spPr>
          <a:xfrm>
            <a:off x="3491476" y="2231136"/>
            <a:ext cx="2467348" cy="17780"/>
          </a:xfrm>
          <a:prstGeom prst="rect">
            <a:avLst/>
          </a:prstGeom>
          <a:solidFill>
            <a:srgbClr val="C79A45"/>
          </a:solidFill>
          <a:ln>
            <a:noFill/>
          </a:ln>
          <a:effectLst/>
        </p:spPr>
        <p:txBody>
          <a:bodyPr wrap="square" rtlCol="0" anchor="ctr"/>
          <a:lstStyle/>
          <a:p>
            <a:pPr algn="ctr"/>
            <a:endParaRPr/>
          </a:p>
        </p:txBody>
      </p:sp>
      <p:sp>
        <p:nvSpPr>
          <p:cNvPr id="15" name="TextBox 14"/>
          <p:cNvSpPr txBox="1"/>
          <p:nvPr/>
        </p:nvSpPr>
        <p:spPr>
          <a:xfrm>
            <a:off x="3491476" y="2322576"/>
            <a:ext cx="2467348" cy="256032"/>
          </a:xfrm>
          <a:prstGeom prst="rect">
            <a:avLst/>
          </a:prstGeom>
          <a:noFill/>
        </p:spPr>
        <p:txBody>
          <a:bodyPr wrap="square" lIns="0" tIns="0" rIns="0" bIns="0" anchor="t">
            <a:noAutofit/>
          </a:bodyPr>
          <a:lstStyle/>
          <a:p>
            <a:pPr algn="l">
              <a:lnSpc>
                <a:spcPct val="105000"/>
              </a:lnSpc>
            </a:pPr>
            <a:r>
              <a:rPr sz="1400" b="1" i="0">
                <a:solidFill>
                  <a:srgbClr val="171922"/>
                </a:solidFill>
                <a:latin typeface="Georgia"/>
              </a:rPr>
              <a:t>Western Han</a:t>
            </a:r>
          </a:p>
        </p:txBody>
      </p:sp>
      <p:sp>
        <p:nvSpPr>
          <p:cNvPr id="16" name="TextBox 15"/>
          <p:cNvSpPr txBox="1"/>
          <p:nvPr/>
        </p:nvSpPr>
        <p:spPr>
          <a:xfrm>
            <a:off x="3491476" y="2615184"/>
            <a:ext cx="2467348" cy="182880"/>
          </a:xfrm>
          <a:prstGeom prst="rect">
            <a:avLst/>
          </a:prstGeom>
          <a:noFill/>
        </p:spPr>
        <p:txBody>
          <a:bodyPr wrap="square" lIns="0" tIns="0" rIns="0" bIns="0" anchor="t">
            <a:noAutofit/>
          </a:bodyPr>
          <a:lstStyle/>
          <a:p>
            <a:pPr algn="l">
              <a:lnSpc>
                <a:spcPct val="100000"/>
              </a:lnSpc>
            </a:pPr>
            <a:r>
              <a:rPr sz="850" b="0" i="0" spc="180">
                <a:solidFill>
                  <a:srgbClr val="C05C3C"/>
                </a:solidFill>
                <a:latin typeface="Segoe UI Semibold"/>
              </a:rPr>
              <a:t>202 BC</a:t>
            </a:r>
          </a:p>
        </p:txBody>
      </p:sp>
      <p:sp>
        <p:nvSpPr>
          <p:cNvPr id="17" name="TextBox 16"/>
          <p:cNvSpPr txBox="1"/>
          <p:nvPr/>
        </p:nvSpPr>
        <p:spPr>
          <a:xfrm>
            <a:off x="3491476" y="2834640"/>
            <a:ext cx="2467348" cy="713232"/>
          </a:xfrm>
          <a:prstGeom prst="rect">
            <a:avLst/>
          </a:prstGeom>
          <a:noFill/>
        </p:spPr>
        <p:txBody>
          <a:bodyPr wrap="square" lIns="0" tIns="0" rIns="0" bIns="0" anchor="t">
            <a:noAutofit/>
          </a:bodyPr>
          <a:lstStyle/>
          <a:p>
            <a:pPr algn="l">
              <a:lnSpc>
                <a:spcPct val="126000"/>
              </a:lnSpc>
            </a:pPr>
            <a:r>
              <a:rPr sz="1050" b="0" i="0">
                <a:solidFill>
                  <a:srgbClr val="7A7266"/>
                </a:solidFill>
                <a:latin typeface="Segoe UI"/>
              </a:rPr>
              <a:t>Liu Bang made the city his capital and named it Chang'an — long-term peace and order.</a:t>
            </a:r>
          </a:p>
        </p:txBody>
      </p:sp>
      <p:sp>
        <p:nvSpPr>
          <p:cNvPr id="18" name="Rectangle 17"/>
          <p:cNvSpPr/>
          <p:nvPr/>
        </p:nvSpPr>
        <p:spPr>
          <a:xfrm>
            <a:off x="6233145" y="2231136"/>
            <a:ext cx="2467348" cy="17780"/>
          </a:xfrm>
          <a:prstGeom prst="rect">
            <a:avLst/>
          </a:prstGeom>
          <a:solidFill>
            <a:srgbClr val="C79A45"/>
          </a:solidFill>
          <a:ln>
            <a:noFill/>
          </a:ln>
          <a:effectLst/>
        </p:spPr>
        <p:txBody>
          <a:bodyPr wrap="square" rtlCol="0" anchor="ctr"/>
          <a:lstStyle/>
          <a:p>
            <a:pPr algn="ctr"/>
            <a:endParaRPr/>
          </a:p>
        </p:txBody>
      </p:sp>
      <p:sp>
        <p:nvSpPr>
          <p:cNvPr id="19" name="TextBox 18"/>
          <p:cNvSpPr txBox="1"/>
          <p:nvPr/>
        </p:nvSpPr>
        <p:spPr>
          <a:xfrm>
            <a:off x="6233145" y="2322576"/>
            <a:ext cx="2467348" cy="256032"/>
          </a:xfrm>
          <a:prstGeom prst="rect">
            <a:avLst/>
          </a:prstGeom>
          <a:noFill/>
        </p:spPr>
        <p:txBody>
          <a:bodyPr wrap="square" lIns="0" tIns="0" rIns="0" bIns="0" anchor="t">
            <a:noAutofit/>
          </a:bodyPr>
          <a:lstStyle/>
          <a:p>
            <a:pPr algn="l">
              <a:lnSpc>
                <a:spcPct val="105000"/>
              </a:lnSpc>
            </a:pPr>
            <a:r>
              <a:rPr sz="1400" b="1" i="0">
                <a:solidFill>
                  <a:srgbClr val="171922"/>
                </a:solidFill>
                <a:latin typeface="Georgia"/>
              </a:rPr>
              <a:t>Sui</a:t>
            </a:r>
          </a:p>
        </p:txBody>
      </p:sp>
      <p:sp>
        <p:nvSpPr>
          <p:cNvPr id="20" name="TextBox 19"/>
          <p:cNvSpPr txBox="1"/>
          <p:nvPr/>
        </p:nvSpPr>
        <p:spPr>
          <a:xfrm>
            <a:off x="6233145" y="2615184"/>
            <a:ext cx="2467348" cy="182880"/>
          </a:xfrm>
          <a:prstGeom prst="rect">
            <a:avLst/>
          </a:prstGeom>
          <a:noFill/>
        </p:spPr>
        <p:txBody>
          <a:bodyPr wrap="square" lIns="0" tIns="0" rIns="0" bIns="0" anchor="t">
            <a:noAutofit/>
          </a:bodyPr>
          <a:lstStyle/>
          <a:p>
            <a:pPr algn="l">
              <a:lnSpc>
                <a:spcPct val="100000"/>
              </a:lnSpc>
            </a:pPr>
            <a:r>
              <a:rPr sz="850" b="0" i="0" spc="180">
                <a:solidFill>
                  <a:srgbClr val="C05C3C"/>
                </a:solidFill>
                <a:latin typeface="Segoe UI Semibold"/>
              </a:rPr>
              <a:t>AD 582</a:t>
            </a:r>
          </a:p>
        </p:txBody>
      </p:sp>
      <p:sp>
        <p:nvSpPr>
          <p:cNvPr id="21" name="TextBox 20"/>
          <p:cNvSpPr txBox="1"/>
          <p:nvPr/>
        </p:nvSpPr>
        <p:spPr>
          <a:xfrm>
            <a:off x="6233145" y="2834640"/>
            <a:ext cx="2467348" cy="713232"/>
          </a:xfrm>
          <a:prstGeom prst="rect">
            <a:avLst/>
          </a:prstGeom>
          <a:noFill/>
        </p:spPr>
        <p:txBody>
          <a:bodyPr wrap="square" lIns="0" tIns="0" rIns="0" bIns="0" anchor="t">
            <a:noAutofit/>
          </a:bodyPr>
          <a:lstStyle/>
          <a:p>
            <a:pPr algn="l">
              <a:lnSpc>
                <a:spcPct val="126000"/>
              </a:lnSpc>
            </a:pPr>
            <a:r>
              <a:rPr sz="1050" b="0" i="0">
                <a:solidFill>
                  <a:srgbClr val="7A7266"/>
                </a:solidFill>
                <a:latin typeface="Segoe UI"/>
              </a:rPr>
              <a:t>Emperor Wen, Yang Jian, built Daxing City to the southeast of the old city.</a:t>
            </a:r>
          </a:p>
        </p:txBody>
      </p:sp>
      <p:sp>
        <p:nvSpPr>
          <p:cNvPr id="22" name="Rectangle 21"/>
          <p:cNvSpPr/>
          <p:nvPr/>
        </p:nvSpPr>
        <p:spPr>
          <a:xfrm>
            <a:off x="8974813" y="2231136"/>
            <a:ext cx="2467348" cy="17780"/>
          </a:xfrm>
          <a:prstGeom prst="rect">
            <a:avLst/>
          </a:prstGeom>
          <a:solidFill>
            <a:srgbClr val="C79A45"/>
          </a:solidFill>
          <a:ln>
            <a:noFill/>
          </a:ln>
          <a:effectLst/>
        </p:spPr>
        <p:txBody>
          <a:bodyPr wrap="square" rtlCol="0" anchor="ctr"/>
          <a:lstStyle/>
          <a:p>
            <a:pPr algn="ctr"/>
            <a:endParaRPr/>
          </a:p>
        </p:txBody>
      </p:sp>
      <p:sp>
        <p:nvSpPr>
          <p:cNvPr id="23" name="TextBox 22"/>
          <p:cNvSpPr txBox="1"/>
          <p:nvPr/>
        </p:nvSpPr>
        <p:spPr>
          <a:xfrm>
            <a:off x="8974813" y="2322576"/>
            <a:ext cx="2467348" cy="256032"/>
          </a:xfrm>
          <a:prstGeom prst="rect">
            <a:avLst/>
          </a:prstGeom>
          <a:noFill/>
        </p:spPr>
        <p:txBody>
          <a:bodyPr wrap="square" lIns="0" tIns="0" rIns="0" bIns="0" anchor="t">
            <a:noAutofit/>
          </a:bodyPr>
          <a:lstStyle/>
          <a:p>
            <a:pPr algn="l">
              <a:lnSpc>
                <a:spcPct val="105000"/>
              </a:lnSpc>
            </a:pPr>
            <a:r>
              <a:rPr sz="1400" b="1" i="0">
                <a:solidFill>
                  <a:srgbClr val="171922"/>
                </a:solidFill>
                <a:latin typeface="Georgia"/>
              </a:rPr>
              <a:t>Tang</a:t>
            </a:r>
          </a:p>
        </p:txBody>
      </p:sp>
      <p:sp>
        <p:nvSpPr>
          <p:cNvPr id="24" name="TextBox 23"/>
          <p:cNvSpPr txBox="1"/>
          <p:nvPr/>
        </p:nvSpPr>
        <p:spPr>
          <a:xfrm>
            <a:off x="8974813" y="2615184"/>
            <a:ext cx="2467348" cy="182880"/>
          </a:xfrm>
          <a:prstGeom prst="rect">
            <a:avLst/>
          </a:prstGeom>
          <a:noFill/>
        </p:spPr>
        <p:txBody>
          <a:bodyPr wrap="square" lIns="0" tIns="0" rIns="0" bIns="0" anchor="t">
            <a:noAutofit/>
          </a:bodyPr>
          <a:lstStyle/>
          <a:p>
            <a:pPr algn="l">
              <a:lnSpc>
                <a:spcPct val="100000"/>
              </a:lnSpc>
            </a:pPr>
            <a:r>
              <a:rPr sz="850" b="0" i="0" spc="180">
                <a:solidFill>
                  <a:srgbClr val="C05C3C"/>
                </a:solidFill>
                <a:latin typeface="Segoe UI Semibold"/>
              </a:rPr>
              <a:t>AD 618–907</a:t>
            </a:r>
          </a:p>
        </p:txBody>
      </p:sp>
      <p:sp>
        <p:nvSpPr>
          <p:cNvPr id="25" name="TextBox 24"/>
          <p:cNvSpPr txBox="1"/>
          <p:nvPr/>
        </p:nvSpPr>
        <p:spPr>
          <a:xfrm>
            <a:off x="8974813" y="2834640"/>
            <a:ext cx="2467348" cy="713232"/>
          </a:xfrm>
          <a:prstGeom prst="rect">
            <a:avLst/>
          </a:prstGeom>
          <a:noFill/>
        </p:spPr>
        <p:txBody>
          <a:bodyPr wrap="square" lIns="0" tIns="0" rIns="0" bIns="0" anchor="t">
            <a:noAutofit/>
          </a:bodyPr>
          <a:lstStyle/>
          <a:p>
            <a:pPr algn="l">
              <a:lnSpc>
                <a:spcPct val="126000"/>
              </a:lnSpc>
            </a:pPr>
            <a:r>
              <a:rPr sz="1050" b="0" i="0">
                <a:solidFill>
                  <a:srgbClr val="7A7266"/>
                </a:solidFill>
                <a:latin typeface="Segoe UI"/>
              </a:rPr>
              <a:t>Chang'an became the largest city in the world, and guests came from everywhere.</a:t>
            </a:r>
          </a:p>
        </p:txBody>
      </p:sp>
      <p:sp>
        <p:nvSpPr>
          <p:cNvPr id="26" name="TextBox 25"/>
          <p:cNvSpPr txBox="1"/>
          <p:nvPr/>
        </p:nvSpPr>
        <p:spPr>
          <a:xfrm>
            <a:off x="749808" y="3639312"/>
            <a:ext cx="6766560" cy="219456"/>
          </a:xfrm>
          <a:prstGeom prst="rect">
            <a:avLst/>
          </a:prstGeom>
          <a:noFill/>
        </p:spPr>
        <p:txBody>
          <a:bodyPr wrap="square" lIns="0" tIns="0" rIns="0" bIns="0" anchor="t">
            <a:noAutofit/>
          </a:bodyPr>
          <a:lstStyle/>
          <a:p>
            <a:pPr algn="l">
              <a:lnSpc>
                <a:spcPct val="100000"/>
              </a:lnSpc>
            </a:pPr>
            <a:r>
              <a:rPr sz="900" b="0" i="0" spc="240">
                <a:solidFill>
                  <a:srgbClr val="C05C3C"/>
                </a:solidFill>
                <a:latin typeface="Segoe UI Semibold"/>
              </a:rPr>
              <a:t>WHAT IT LEFT THE WORLD</a:t>
            </a:r>
          </a:p>
        </p:txBody>
      </p:sp>
      <p:sp>
        <p:nvSpPr>
          <p:cNvPr id="27" name="Rounded Rectangle 26"/>
          <p:cNvSpPr/>
          <p:nvPr/>
        </p:nvSpPr>
        <p:spPr>
          <a:xfrm>
            <a:off x="749808" y="3858768"/>
            <a:ext cx="3356854" cy="1335024"/>
          </a:xfrm>
          <a:prstGeom prst="roundRect">
            <a:avLst>
              <a:gd name="adj" fmla="val 5500"/>
            </a:avLst>
          </a:prstGeom>
          <a:solidFill>
            <a:srgbClr val="EFE6D7"/>
          </a:solidFill>
          <a:ln w="11430">
            <a:solidFill>
              <a:srgbClr val="D6C9B4"/>
            </a:solidFill>
          </a:ln>
          <a:effectLst/>
        </p:spPr>
        <p:txBody>
          <a:bodyPr wrap="square" rtlCol="0" anchor="ctr"/>
          <a:lstStyle/>
          <a:p>
            <a:pPr algn="ctr"/>
            <a:endParaRPr/>
          </a:p>
        </p:txBody>
      </p:sp>
      <p:pic>
        <p:nvPicPr>
          <p:cNvPr id="28" name="Picture 27" descr="bld_pit.jpg"/>
          <p:cNvPicPr>
            <a:picLocks noChangeAspect="1"/>
          </p:cNvPicPr>
          <p:nvPr/>
        </p:nvPicPr>
        <p:blipFill>
          <a:blip r:embed="rId3"/>
          <a:stretch>
            <a:fillRect/>
          </a:stretch>
        </p:blipFill>
        <p:spPr>
          <a:xfrm>
            <a:off x="950976" y="4041648"/>
            <a:ext cx="754705" cy="1005840"/>
          </a:xfrm>
          <a:prstGeom prst="rect">
            <a:avLst/>
          </a:prstGeom>
          <a:ln w="9525">
            <a:solidFill>
              <a:srgbClr val="D6C9B4"/>
            </a:solidFill>
          </a:ln>
        </p:spPr>
      </p:pic>
      <p:sp>
        <p:nvSpPr>
          <p:cNvPr id="29" name="TextBox 28"/>
          <p:cNvSpPr txBox="1"/>
          <p:nvPr/>
        </p:nvSpPr>
        <p:spPr>
          <a:xfrm>
            <a:off x="1792224" y="4041648"/>
            <a:ext cx="2113270" cy="237744"/>
          </a:xfrm>
          <a:prstGeom prst="rect">
            <a:avLst/>
          </a:prstGeom>
          <a:noFill/>
        </p:spPr>
        <p:txBody>
          <a:bodyPr wrap="square" lIns="0" tIns="0" rIns="0" bIns="0" anchor="t">
            <a:noAutofit/>
          </a:bodyPr>
          <a:lstStyle/>
          <a:p>
            <a:pPr algn="l">
              <a:lnSpc>
                <a:spcPct val="105000"/>
              </a:lnSpc>
            </a:pPr>
            <a:r>
              <a:rPr sz="1150" b="1" i="0">
                <a:solidFill>
                  <a:srgbClr val="171922"/>
                </a:solidFill>
                <a:latin typeface="Georgia"/>
              </a:rPr>
              <a:t>The Terracotta Army</a:t>
            </a:r>
          </a:p>
        </p:txBody>
      </p:sp>
      <p:sp>
        <p:nvSpPr>
          <p:cNvPr id="30" name="TextBox 29"/>
          <p:cNvSpPr txBox="1"/>
          <p:nvPr/>
        </p:nvSpPr>
        <p:spPr>
          <a:xfrm>
            <a:off x="1792224" y="4297680"/>
            <a:ext cx="2113270" cy="841248"/>
          </a:xfrm>
          <a:prstGeom prst="rect">
            <a:avLst/>
          </a:prstGeom>
          <a:noFill/>
        </p:spPr>
        <p:txBody>
          <a:bodyPr wrap="square" lIns="0" tIns="0" rIns="0" bIns="0" anchor="t">
            <a:noAutofit/>
          </a:bodyPr>
          <a:lstStyle/>
          <a:p>
            <a:pPr algn="l">
              <a:lnSpc>
                <a:spcPct val="126000"/>
              </a:lnSpc>
            </a:pPr>
            <a:r>
              <a:rPr sz="1000" b="0" i="0">
                <a:solidFill>
                  <a:srgbClr val="7A7266"/>
                </a:solidFill>
                <a:latin typeface="Segoe UI"/>
              </a:rPr>
              <a:t>The Qin swept across the Six States here. The army is what it left behind.</a:t>
            </a:r>
          </a:p>
        </p:txBody>
      </p:sp>
      <p:sp>
        <p:nvSpPr>
          <p:cNvPr id="31" name="Rounded Rectangle 30"/>
          <p:cNvSpPr/>
          <p:nvPr/>
        </p:nvSpPr>
        <p:spPr>
          <a:xfrm>
            <a:off x="4417558" y="3858768"/>
            <a:ext cx="3356854" cy="1335024"/>
          </a:xfrm>
          <a:prstGeom prst="roundRect">
            <a:avLst>
              <a:gd name="adj" fmla="val 5500"/>
            </a:avLst>
          </a:prstGeom>
          <a:solidFill>
            <a:srgbClr val="EFE6D7"/>
          </a:solidFill>
          <a:ln w="11430">
            <a:solidFill>
              <a:srgbClr val="D6C9B4"/>
            </a:solidFill>
          </a:ln>
          <a:effectLst/>
        </p:spPr>
        <p:txBody>
          <a:bodyPr wrap="square" rtlCol="0" anchor="ctr"/>
          <a:lstStyle/>
          <a:p>
            <a:pPr algn="ctr"/>
            <a:endParaRPr/>
          </a:p>
        </p:txBody>
      </p:sp>
      <p:pic>
        <p:nvPicPr>
          <p:cNvPr id="32" name="Picture 31" descr="bld_pagoda.jpg"/>
          <p:cNvPicPr>
            <a:picLocks noChangeAspect="1"/>
          </p:cNvPicPr>
          <p:nvPr/>
        </p:nvPicPr>
        <p:blipFill>
          <a:blip r:embed="rId4"/>
          <a:stretch>
            <a:fillRect/>
          </a:stretch>
        </p:blipFill>
        <p:spPr>
          <a:xfrm>
            <a:off x="4618726" y="4041648"/>
            <a:ext cx="754705" cy="1005840"/>
          </a:xfrm>
          <a:prstGeom prst="rect">
            <a:avLst/>
          </a:prstGeom>
          <a:ln w="9525">
            <a:solidFill>
              <a:srgbClr val="D6C9B4"/>
            </a:solidFill>
          </a:ln>
        </p:spPr>
      </p:pic>
      <p:sp>
        <p:nvSpPr>
          <p:cNvPr id="33" name="TextBox 32"/>
          <p:cNvSpPr txBox="1"/>
          <p:nvPr/>
        </p:nvSpPr>
        <p:spPr>
          <a:xfrm>
            <a:off x="5459974" y="4041648"/>
            <a:ext cx="2113270" cy="237744"/>
          </a:xfrm>
          <a:prstGeom prst="rect">
            <a:avLst/>
          </a:prstGeom>
          <a:noFill/>
        </p:spPr>
        <p:txBody>
          <a:bodyPr wrap="square" lIns="0" tIns="0" rIns="0" bIns="0" anchor="t">
            <a:noAutofit/>
          </a:bodyPr>
          <a:lstStyle/>
          <a:p>
            <a:pPr algn="l">
              <a:lnSpc>
                <a:spcPct val="105000"/>
              </a:lnSpc>
            </a:pPr>
            <a:r>
              <a:rPr sz="1150" b="1" i="0">
                <a:solidFill>
                  <a:srgbClr val="171922"/>
                </a:solidFill>
                <a:latin typeface="Georgia"/>
              </a:rPr>
              <a:t>Big Wild Goose Pagoda</a:t>
            </a:r>
          </a:p>
        </p:txBody>
      </p:sp>
      <p:sp>
        <p:nvSpPr>
          <p:cNvPr id="34" name="TextBox 33"/>
          <p:cNvSpPr txBox="1"/>
          <p:nvPr/>
        </p:nvSpPr>
        <p:spPr>
          <a:xfrm>
            <a:off x="5459974" y="4297680"/>
            <a:ext cx="2113270" cy="841248"/>
          </a:xfrm>
          <a:prstGeom prst="rect">
            <a:avLst/>
          </a:prstGeom>
          <a:noFill/>
        </p:spPr>
        <p:txBody>
          <a:bodyPr wrap="square" lIns="0" tIns="0" rIns="0" bIns="0" anchor="t">
            <a:noAutofit/>
          </a:bodyPr>
          <a:lstStyle/>
          <a:p>
            <a:pPr algn="l">
              <a:lnSpc>
                <a:spcPct val="126000"/>
              </a:lnSpc>
            </a:pPr>
            <a:r>
              <a:rPr sz="1000" b="0" i="0">
                <a:solidFill>
                  <a:srgbClr val="7A7266"/>
                </a:solidFill>
                <a:latin typeface="Segoe UI"/>
              </a:rPr>
              <a:t>The Silk Road started here, by Zhang Qian. In Tang times visitors came from all over the world.</a:t>
            </a:r>
          </a:p>
        </p:txBody>
      </p:sp>
      <p:sp>
        <p:nvSpPr>
          <p:cNvPr id="35" name="Rounded Rectangle 34"/>
          <p:cNvSpPr/>
          <p:nvPr/>
        </p:nvSpPr>
        <p:spPr>
          <a:xfrm>
            <a:off x="8085308" y="3858768"/>
            <a:ext cx="3356854" cy="1335024"/>
          </a:xfrm>
          <a:prstGeom prst="roundRect">
            <a:avLst>
              <a:gd name="adj" fmla="val 5500"/>
            </a:avLst>
          </a:prstGeom>
          <a:solidFill>
            <a:srgbClr val="EFE6D7"/>
          </a:solidFill>
          <a:ln w="11430">
            <a:solidFill>
              <a:srgbClr val="D6C9B4"/>
            </a:solidFill>
          </a:ln>
          <a:effectLst/>
        </p:spPr>
        <p:txBody>
          <a:bodyPr wrap="square" rtlCol="0" anchor="ctr"/>
          <a:lstStyle/>
          <a:p>
            <a:pPr algn="ctr"/>
            <a:endParaRPr/>
          </a:p>
        </p:txBody>
      </p:sp>
      <p:pic>
        <p:nvPicPr>
          <p:cNvPr id="36" name="Picture 35" descr="bld_wall.jpg"/>
          <p:cNvPicPr>
            <a:picLocks noChangeAspect="1"/>
          </p:cNvPicPr>
          <p:nvPr/>
        </p:nvPicPr>
        <p:blipFill>
          <a:blip r:embed="rId5"/>
          <a:stretch>
            <a:fillRect/>
          </a:stretch>
        </p:blipFill>
        <p:spPr>
          <a:xfrm>
            <a:off x="8286476" y="4041648"/>
            <a:ext cx="754705" cy="1005840"/>
          </a:xfrm>
          <a:prstGeom prst="rect">
            <a:avLst/>
          </a:prstGeom>
          <a:ln w="9525">
            <a:solidFill>
              <a:srgbClr val="D6C9B4"/>
            </a:solidFill>
          </a:ln>
        </p:spPr>
      </p:pic>
      <p:sp>
        <p:nvSpPr>
          <p:cNvPr id="37" name="TextBox 36"/>
          <p:cNvSpPr txBox="1"/>
          <p:nvPr/>
        </p:nvSpPr>
        <p:spPr>
          <a:xfrm>
            <a:off x="9127724" y="4041648"/>
            <a:ext cx="2113270" cy="237744"/>
          </a:xfrm>
          <a:prstGeom prst="rect">
            <a:avLst/>
          </a:prstGeom>
          <a:noFill/>
        </p:spPr>
        <p:txBody>
          <a:bodyPr wrap="square" lIns="0" tIns="0" rIns="0" bIns="0" anchor="t">
            <a:noAutofit/>
          </a:bodyPr>
          <a:lstStyle/>
          <a:p>
            <a:pPr algn="l">
              <a:lnSpc>
                <a:spcPct val="105000"/>
              </a:lnSpc>
            </a:pPr>
            <a:r>
              <a:rPr sz="1150" b="1" i="0">
                <a:solidFill>
                  <a:srgbClr val="171922"/>
                </a:solidFill>
                <a:latin typeface="Georgia"/>
              </a:rPr>
              <a:t>The city wall today</a:t>
            </a:r>
          </a:p>
        </p:txBody>
      </p:sp>
      <p:sp>
        <p:nvSpPr>
          <p:cNvPr id="38" name="TextBox 37"/>
          <p:cNvSpPr txBox="1"/>
          <p:nvPr/>
        </p:nvSpPr>
        <p:spPr>
          <a:xfrm>
            <a:off x="9127724" y="4297680"/>
            <a:ext cx="2113270" cy="841248"/>
          </a:xfrm>
          <a:prstGeom prst="rect">
            <a:avLst/>
          </a:prstGeom>
          <a:noFill/>
        </p:spPr>
        <p:txBody>
          <a:bodyPr wrap="square" lIns="0" tIns="0" rIns="0" bIns="0" anchor="t">
            <a:noAutofit/>
          </a:bodyPr>
          <a:lstStyle/>
          <a:p>
            <a:pPr algn="l">
              <a:lnSpc>
                <a:spcPct val="126000"/>
              </a:lnSpc>
            </a:pPr>
            <a:r>
              <a:rPr sz="1000" b="0" i="0">
                <a:solidFill>
                  <a:srgbClr val="7A7266"/>
                </a:solidFill>
                <a:latin typeface="Segoe UI"/>
              </a:rPr>
              <a:t>The ancient walls and the old Bell Tower still draw visitors. The subway now runs through Han and Tang layers.</a:t>
            </a:r>
          </a:p>
        </p:txBody>
      </p:sp>
      <p:sp>
        <p:nvSpPr>
          <p:cNvPr id="39" name="Rounded Rectangle 38"/>
          <p:cNvSpPr/>
          <p:nvPr/>
        </p:nvSpPr>
        <p:spPr>
          <a:xfrm>
            <a:off x="749808" y="5321808"/>
            <a:ext cx="10692354" cy="548640"/>
          </a:xfrm>
          <a:prstGeom prst="roundRect">
            <a:avLst>
              <a:gd name="adj" fmla="val 5500"/>
            </a:avLst>
          </a:prstGeom>
          <a:solidFill>
            <a:srgbClr val="EFE6D7"/>
          </a:solidFill>
          <a:ln w="11430">
            <a:solidFill>
              <a:srgbClr val="D6C9B4"/>
            </a:solidFill>
          </a:ln>
          <a:effectLst/>
        </p:spPr>
        <p:txBody>
          <a:bodyPr wrap="square" rtlCol="0" anchor="ctr"/>
          <a:lstStyle/>
          <a:p>
            <a:pPr algn="ctr"/>
            <a:endParaRPr/>
          </a:p>
        </p:txBody>
      </p:sp>
      <p:sp>
        <p:nvSpPr>
          <p:cNvPr id="40" name="TextBox 39"/>
          <p:cNvSpPr txBox="1"/>
          <p:nvPr/>
        </p:nvSpPr>
        <p:spPr>
          <a:xfrm>
            <a:off x="1060704" y="5431536"/>
            <a:ext cx="4898121" cy="402336"/>
          </a:xfrm>
          <a:prstGeom prst="rect">
            <a:avLst/>
          </a:prstGeom>
          <a:noFill/>
        </p:spPr>
        <p:txBody>
          <a:bodyPr wrap="square" lIns="0" tIns="0" rIns="0" bIns="0" anchor="t">
            <a:noAutofit/>
          </a:bodyPr>
          <a:lstStyle/>
          <a:p>
            <a:pPr algn="l">
              <a:lnSpc>
                <a:spcPct val="126000"/>
              </a:lnSpc>
            </a:pPr>
            <a:r>
              <a:rPr sz="900" b="0" i="0" spc="160">
                <a:solidFill>
                  <a:srgbClr val="C79A45"/>
                </a:solidFill>
                <a:latin typeface="Segoe UI Semibold"/>
              </a:rPr>
              <a:t>AD 755 · THE AN SHI REBELLION  </a:t>
            </a:r>
            <a:r>
              <a:rPr sz="1050" b="0" i="0">
                <a:solidFill>
                  <a:srgbClr val="7A7266"/>
                </a:solidFill>
                <a:latin typeface="Segoe UI"/>
              </a:rPr>
              <a:t>The Tang turned to decline, and in 904 the city was destroyed.</a:t>
            </a:r>
          </a:p>
        </p:txBody>
      </p:sp>
      <p:sp>
        <p:nvSpPr>
          <p:cNvPr id="41" name="TextBox 40"/>
          <p:cNvSpPr txBox="1"/>
          <p:nvPr/>
        </p:nvSpPr>
        <p:spPr>
          <a:xfrm>
            <a:off x="6233145" y="5431536"/>
            <a:ext cx="4898121" cy="402336"/>
          </a:xfrm>
          <a:prstGeom prst="rect">
            <a:avLst/>
          </a:prstGeom>
          <a:noFill/>
        </p:spPr>
        <p:txBody>
          <a:bodyPr wrap="square" lIns="0" tIns="0" rIns="0" bIns="0" anchor="t">
            <a:noAutofit/>
          </a:bodyPr>
          <a:lstStyle/>
          <a:p>
            <a:pPr algn="l">
              <a:lnSpc>
                <a:spcPct val="126000"/>
              </a:lnSpc>
            </a:pPr>
            <a:r>
              <a:rPr sz="900" b="0" i="0" spc="160">
                <a:solidFill>
                  <a:srgbClr val="C79A45"/>
                </a:solidFill>
                <a:latin typeface="Segoe UI Semibold"/>
              </a:rPr>
              <a:t>1936 · THE XI'AN INCIDENT  </a:t>
            </a:r>
            <a:r>
              <a:rPr sz="1050" b="0" i="0">
                <a:solidFill>
                  <a:srgbClr val="7A7266"/>
                </a:solidFill>
                <a:latin typeface="Segoe UI"/>
              </a:rPr>
              <a:t>The turning point that stopped the civil war and united the country against Japan.</a:t>
            </a:r>
          </a:p>
        </p:txBody>
      </p:sp>
      <p:sp>
        <p:nvSpPr>
          <p:cNvPr id="42" name="TextBox 41"/>
          <p:cNvSpPr txBox="1"/>
          <p:nvPr/>
        </p:nvSpPr>
        <p:spPr>
          <a:xfrm>
            <a:off x="749808" y="6455664"/>
            <a:ext cx="7484647" cy="237744"/>
          </a:xfrm>
          <a:prstGeom prst="rect">
            <a:avLst/>
          </a:prstGeom>
          <a:noFill/>
        </p:spPr>
        <p:txBody>
          <a:bodyPr wrap="square" lIns="0" tIns="0" rIns="0" bIns="0" anchor="t">
            <a:noAutofit/>
          </a:bodyPr>
          <a:lstStyle/>
          <a:p>
            <a:pPr algn="l">
              <a:lnSpc>
                <a:spcPct val="100000"/>
              </a:lnSpc>
            </a:pPr>
            <a:r>
              <a:rPr sz="800" b="0" i="0" spc="220">
                <a:solidFill>
                  <a:srgbClr val="A8A094"/>
                </a:solidFill>
                <a:latin typeface="Segoe UI"/>
              </a:rPr>
              <a:t>XI'AN  ·  AN INTERESTING PLACE</a:t>
            </a:r>
          </a:p>
        </p:txBody>
      </p:sp>
      <p:sp>
        <p:nvSpPr>
          <p:cNvPr id="43" name="TextBox 42"/>
          <p:cNvSpPr txBox="1"/>
          <p:nvPr/>
        </p:nvSpPr>
        <p:spPr>
          <a:xfrm>
            <a:off x="10344882" y="6441948"/>
            <a:ext cx="1097280" cy="256032"/>
          </a:xfrm>
          <a:prstGeom prst="rect">
            <a:avLst/>
          </a:prstGeom>
          <a:noFill/>
        </p:spPr>
        <p:txBody>
          <a:bodyPr wrap="square" lIns="0" tIns="0" rIns="0" bIns="0" anchor="t">
            <a:noAutofit/>
          </a:bodyPr>
          <a:lstStyle/>
          <a:p>
            <a:pPr algn="r">
              <a:lnSpc>
                <a:spcPct val="100000"/>
              </a:lnSpc>
            </a:pPr>
            <a:r>
              <a:rPr sz="1000" b="1" i="0">
                <a:solidFill>
                  <a:srgbClr val="C05C3C"/>
                </a:solidFill>
                <a:latin typeface="Georgia"/>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paper.jpg"/>
          <p:cNvPicPr>
            <a:picLocks noChangeAspect="1"/>
          </p:cNvPicPr>
          <p:nvPr/>
        </p:nvPicPr>
        <p:blipFill>
          <a:blip r:embed="rId2"/>
          <a:stretch>
            <a:fillRect/>
          </a:stretch>
        </p:blipFill>
        <p:spPr>
          <a:xfrm>
            <a:off x="0" y="0"/>
            <a:ext cx="12191970" cy="6858000"/>
          </a:xfrm>
          <a:prstGeom prst="rect">
            <a:avLst/>
          </a:prstGeom>
        </p:spPr>
      </p:pic>
      <p:sp>
        <p:nvSpPr>
          <p:cNvPr id="3" name="Rectangle 2"/>
          <p:cNvSpPr/>
          <p:nvPr/>
        </p:nvSpPr>
        <p:spPr>
          <a:xfrm>
            <a:off x="749808" y="617220"/>
            <a:ext cx="274320" cy="32004"/>
          </a:xfrm>
          <a:prstGeom prst="rect">
            <a:avLst/>
          </a:prstGeom>
          <a:solidFill>
            <a:srgbClr val="C05C3C"/>
          </a:solidFill>
          <a:ln>
            <a:noFill/>
          </a:ln>
          <a:effectLst/>
        </p:spPr>
        <p:txBody>
          <a:bodyPr wrap="square" rtlCol="0" anchor="ctr"/>
          <a:lstStyle/>
          <a:p>
            <a:pPr algn="ctr"/>
            <a:endParaRPr/>
          </a:p>
        </p:txBody>
      </p:sp>
      <p:sp>
        <p:nvSpPr>
          <p:cNvPr id="4" name="TextBox 3"/>
          <p:cNvSpPr txBox="1"/>
          <p:nvPr/>
        </p:nvSpPr>
        <p:spPr>
          <a:xfrm>
            <a:off x="1152144" y="516636"/>
            <a:ext cx="10290018" cy="310896"/>
          </a:xfrm>
          <a:prstGeom prst="rect">
            <a:avLst/>
          </a:prstGeom>
          <a:noFill/>
        </p:spPr>
        <p:txBody>
          <a:bodyPr wrap="square" lIns="0" tIns="0" rIns="0" bIns="0" anchor="t">
            <a:noAutofit/>
          </a:bodyPr>
          <a:lstStyle/>
          <a:p>
            <a:pPr algn="l">
              <a:lnSpc>
                <a:spcPct val="100000"/>
              </a:lnSpc>
            </a:pPr>
            <a:r>
              <a:rPr sz="1050" b="0" i="0" spc="260">
                <a:solidFill>
                  <a:srgbClr val="C05C3C"/>
                </a:solidFill>
                <a:latin typeface="Segoe UI Semibold"/>
              </a:rPr>
              <a:t>03  ·  OPINION (POSITIVES)</a:t>
            </a:r>
          </a:p>
        </p:txBody>
      </p:sp>
      <p:sp>
        <p:nvSpPr>
          <p:cNvPr id="5" name="TextBox 4"/>
          <p:cNvSpPr txBox="1"/>
          <p:nvPr/>
        </p:nvSpPr>
        <p:spPr>
          <a:xfrm>
            <a:off x="749808" y="768096"/>
            <a:ext cx="9623118" cy="640080"/>
          </a:xfrm>
          <a:prstGeom prst="rect">
            <a:avLst/>
          </a:prstGeom>
          <a:noFill/>
        </p:spPr>
        <p:txBody>
          <a:bodyPr wrap="square" lIns="0" tIns="0" rIns="0" bIns="0" anchor="t">
            <a:noAutofit/>
          </a:bodyPr>
          <a:lstStyle/>
          <a:p>
            <a:pPr algn="l">
              <a:lnSpc>
                <a:spcPct val="103000"/>
              </a:lnSpc>
            </a:pPr>
            <a:r>
              <a:rPr sz="3300" b="1" i="0">
                <a:solidFill>
                  <a:srgbClr val="171922"/>
                </a:solidFill>
                <a:latin typeface="Georgia"/>
              </a:rPr>
              <a:t>What we loved</a:t>
            </a:r>
          </a:p>
        </p:txBody>
      </p:sp>
      <p:sp>
        <p:nvSpPr>
          <p:cNvPr id="6" name="TextBox 5"/>
          <p:cNvSpPr txBox="1"/>
          <p:nvPr/>
        </p:nvSpPr>
        <p:spPr>
          <a:xfrm>
            <a:off x="749808" y="1316736"/>
            <a:ext cx="10354638" cy="493776"/>
          </a:xfrm>
          <a:prstGeom prst="rect">
            <a:avLst/>
          </a:prstGeom>
          <a:noFill/>
        </p:spPr>
        <p:txBody>
          <a:bodyPr wrap="square" lIns="0" tIns="0" rIns="0" bIns="0" anchor="t">
            <a:noAutofit/>
          </a:bodyPr>
          <a:lstStyle/>
          <a:p>
            <a:pPr algn="l">
              <a:lnSpc>
                <a:spcPct val="134000"/>
              </a:lnSpc>
            </a:pPr>
            <a:r>
              <a:rPr sz="1300" b="0" i="0">
                <a:solidFill>
                  <a:srgbClr val="7A7266"/>
                </a:solidFill>
                <a:latin typeface="Segoe UI"/>
              </a:rPr>
              <a:t>Four things we would go back for — and one line on why each one is worth it.</a:t>
            </a:r>
          </a:p>
        </p:txBody>
      </p:sp>
      <p:sp>
        <p:nvSpPr>
          <p:cNvPr id="7" name="Rectangle 6"/>
          <p:cNvSpPr/>
          <p:nvPr/>
        </p:nvSpPr>
        <p:spPr>
          <a:xfrm>
            <a:off x="749808" y="1847088"/>
            <a:ext cx="10692354" cy="13970"/>
          </a:xfrm>
          <a:prstGeom prst="rect">
            <a:avLst/>
          </a:prstGeom>
          <a:solidFill>
            <a:srgbClr val="D6C9B4"/>
          </a:solidFill>
          <a:ln>
            <a:noFill/>
          </a:ln>
          <a:effectLst/>
        </p:spPr>
        <p:txBody>
          <a:bodyPr wrap="square" rtlCol="0" anchor="ctr"/>
          <a:lstStyle/>
          <a:p>
            <a:pPr algn="ctr"/>
            <a:endParaRPr/>
          </a:p>
        </p:txBody>
      </p:sp>
      <p:sp>
        <p:nvSpPr>
          <p:cNvPr id="8" name="Rounded Rectangle 7"/>
          <p:cNvSpPr/>
          <p:nvPr/>
        </p:nvSpPr>
        <p:spPr>
          <a:xfrm>
            <a:off x="749808" y="2048256"/>
            <a:ext cx="5190729" cy="1828800"/>
          </a:xfrm>
          <a:prstGeom prst="roundRect">
            <a:avLst>
              <a:gd name="adj" fmla="val 5500"/>
            </a:avLst>
          </a:prstGeom>
          <a:solidFill>
            <a:srgbClr val="EFE6D7"/>
          </a:solidFill>
          <a:ln w="11430">
            <a:solidFill>
              <a:srgbClr val="D6C9B4"/>
            </a:solidFill>
          </a:ln>
          <a:effectLst/>
        </p:spPr>
        <p:txBody>
          <a:bodyPr wrap="square" rtlCol="0" anchor="ctr"/>
          <a:lstStyle/>
          <a:p>
            <a:pPr algn="ctr"/>
            <a:endParaRPr/>
          </a:p>
        </p:txBody>
      </p:sp>
      <p:sp>
        <p:nvSpPr>
          <p:cNvPr id="9" name="Rectangle 8"/>
          <p:cNvSpPr/>
          <p:nvPr/>
        </p:nvSpPr>
        <p:spPr>
          <a:xfrm>
            <a:off x="1060704" y="2336292"/>
            <a:ext cx="77724" cy="77724"/>
          </a:xfrm>
          <a:prstGeom prst="rect">
            <a:avLst/>
          </a:prstGeom>
          <a:solidFill>
            <a:srgbClr val="C05C3C"/>
          </a:solidFill>
          <a:ln>
            <a:noFill/>
          </a:ln>
          <a:effectLst/>
        </p:spPr>
        <p:txBody>
          <a:bodyPr wrap="square" rtlCol="0" anchor="ctr"/>
          <a:lstStyle/>
          <a:p>
            <a:pPr algn="ctr"/>
            <a:endParaRPr/>
          </a:p>
        </p:txBody>
      </p:sp>
      <p:sp>
        <p:nvSpPr>
          <p:cNvPr id="10" name="TextBox 9"/>
          <p:cNvSpPr txBox="1"/>
          <p:nvPr/>
        </p:nvSpPr>
        <p:spPr>
          <a:xfrm>
            <a:off x="1252728" y="2275027"/>
            <a:ext cx="3108960" cy="256032"/>
          </a:xfrm>
          <a:prstGeom prst="rect">
            <a:avLst/>
          </a:prstGeom>
          <a:noFill/>
        </p:spPr>
        <p:txBody>
          <a:bodyPr wrap="square" lIns="0" tIns="0" rIns="0" bIns="0" anchor="t">
            <a:noAutofit/>
          </a:bodyPr>
          <a:lstStyle/>
          <a:p>
            <a:pPr algn="l">
              <a:lnSpc>
                <a:spcPct val="100000"/>
              </a:lnSpc>
            </a:pPr>
            <a:r>
              <a:rPr sz="900" b="0" i="0" spc="220">
                <a:solidFill>
                  <a:srgbClr val="C05C3C"/>
                </a:solidFill>
                <a:latin typeface="Segoe UI Semibold"/>
              </a:rPr>
              <a:t>MUST-SEE</a:t>
            </a:r>
          </a:p>
        </p:txBody>
      </p:sp>
      <p:pic>
        <p:nvPicPr>
          <p:cNvPr id="11" name="Picture 10" descr="terracotta_head.jpg"/>
          <p:cNvPicPr>
            <a:picLocks noChangeAspect="1"/>
          </p:cNvPicPr>
          <p:nvPr/>
        </p:nvPicPr>
        <p:blipFill>
          <a:blip r:embed="rId3"/>
          <a:stretch>
            <a:fillRect/>
          </a:stretch>
        </p:blipFill>
        <p:spPr>
          <a:xfrm>
            <a:off x="4603227" y="2267712"/>
            <a:ext cx="1062990" cy="1417320"/>
          </a:xfrm>
          <a:prstGeom prst="rect">
            <a:avLst/>
          </a:prstGeom>
          <a:ln w="9525">
            <a:solidFill>
              <a:srgbClr val="D6C9B4"/>
            </a:solidFill>
          </a:ln>
        </p:spPr>
      </p:pic>
      <p:sp>
        <p:nvSpPr>
          <p:cNvPr id="12" name="TextBox 11"/>
          <p:cNvSpPr txBox="1"/>
          <p:nvPr/>
        </p:nvSpPr>
        <p:spPr>
          <a:xfrm>
            <a:off x="1060704" y="2578608"/>
            <a:ext cx="3268203" cy="292608"/>
          </a:xfrm>
          <a:prstGeom prst="rect">
            <a:avLst/>
          </a:prstGeom>
          <a:noFill/>
        </p:spPr>
        <p:txBody>
          <a:bodyPr wrap="square" lIns="0" tIns="0" rIns="0" bIns="0" anchor="t">
            <a:noAutofit/>
          </a:bodyPr>
          <a:lstStyle/>
          <a:p>
            <a:pPr algn="l">
              <a:lnSpc>
                <a:spcPct val="105000"/>
              </a:lnSpc>
            </a:pPr>
            <a:r>
              <a:rPr sz="1650" b="1" i="0">
                <a:solidFill>
                  <a:srgbClr val="171922"/>
                </a:solidFill>
                <a:latin typeface="Georgia"/>
              </a:rPr>
              <a:t>The Terracotta Army</a:t>
            </a:r>
          </a:p>
        </p:txBody>
      </p:sp>
      <p:sp>
        <p:nvSpPr>
          <p:cNvPr id="13" name="TextBox 12"/>
          <p:cNvSpPr txBox="1"/>
          <p:nvPr/>
        </p:nvSpPr>
        <p:spPr>
          <a:xfrm>
            <a:off x="1060704" y="2907792"/>
            <a:ext cx="3268203" cy="457200"/>
          </a:xfrm>
          <a:prstGeom prst="rect">
            <a:avLst/>
          </a:prstGeom>
          <a:noFill/>
        </p:spPr>
        <p:txBody>
          <a:bodyPr wrap="square" lIns="0" tIns="0" rIns="0" bIns="0" anchor="t">
            <a:noAutofit/>
          </a:bodyPr>
          <a:lstStyle/>
          <a:p>
            <a:pPr algn="l">
              <a:lnSpc>
                <a:spcPct val="128000"/>
              </a:lnSpc>
            </a:pPr>
            <a:r>
              <a:rPr sz="1150" b="0" i="0">
                <a:solidFill>
                  <a:srgbClr val="7A7266"/>
                </a:solidFill>
                <a:latin typeface="Segoe UI"/>
              </a:rPr>
              <a:t>8,000 life-size soldiers, no two faces the same, buried for 2,200 years.</a:t>
            </a:r>
          </a:p>
        </p:txBody>
      </p:sp>
      <p:sp>
        <p:nvSpPr>
          <p:cNvPr id="14" name="Rectangle 13"/>
          <p:cNvSpPr/>
          <p:nvPr/>
        </p:nvSpPr>
        <p:spPr>
          <a:xfrm>
            <a:off x="1060704" y="3474720"/>
            <a:ext cx="329184" cy="16510"/>
          </a:xfrm>
          <a:prstGeom prst="rect">
            <a:avLst/>
          </a:prstGeom>
          <a:solidFill>
            <a:srgbClr val="C79A45"/>
          </a:solidFill>
          <a:ln>
            <a:noFill/>
          </a:ln>
          <a:effectLst/>
        </p:spPr>
        <p:txBody>
          <a:bodyPr wrap="square" rtlCol="0" anchor="ctr"/>
          <a:lstStyle/>
          <a:p>
            <a:pPr algn="ctr"/>
            <a:endParaRPr/>
          </a:p>
        </p:txBody>
      </p:sp>
      <p:sp>
        <p:nvSpPr>
          <p:cNvPr id="15" name="TextBox 14"/>
          <p:cNvSpPr txBox="1"/>
          <p:nvPr/>
        </p:nvSpPr>
        <p:spPr>
          <a:xfrm>
            <a:off x="1499616" y="3401568"/>
            <a:ext cx="2829291" cy="402336"/>
          </a:xfrm>
          <a:prstGeom prst="rect">
            <a:avLst/>
          </a:prstGeom>
          <a:noFill/>
        </p:spPr>
        <p:txBody>
          <a:bodyPr wrap="square" lIns="0" tIns="0" rIns="0" bIns="0" anchor="t">
            <a:noAutofit/>
          </a:bodyPr>
          <a:lstStyle/>
          <a:p>
            <a:pPr algn="l">
              <a:lnSpc>
                <a:spcPct val="120000"/>
              </a:lnSpc>
            </a:pPr>
            <a:r>
              <a:rPr sz="1050" b="0" i="0">
                <a:solidFill>
                  <a:srgbClr val="9A4527"/>
                </a:solidFill>
                <a:latin typeface="Segoe UI"/>
              </a:rPr>
              <a:t>40 km east  ·  half a day  ·  book ahead</a:t>
            </a:r>
          </a:p>
        </p:txBody>
      </p:sp>
      <p:sp>
        <p:nvSpPr>
          <p:cNvPr id="16" name="Rounded Rectangle 15"/>
          <p:cNvSpPr/>
          <p:nvPr/>
        </p:nvSpPr>
        <p:spPr>
          <a:xfrm>
            <a:off x="6251433" y="2048256"/>
            <a:ext cx="5190729" cy="1828800"/>
          </a:xfrm>
          <a:prstGeom prst="roundRect">
            <a:avLst>
              <a:gd name="adj" fmla="val 5500"/>
            </a:avLst>
          </a:prstGeom>
          <a:solidFill>
            <a:srgbClr val="EFE6D7"/>
          </a:solidFill>
          <a:ln w="11430">
            <a:solidFill>
              <a:srgbClr val="D6C9B4"/>
            </a:solidFill>
          </a:ln>
          <a:effectLst/>
        </p:spPr>
        <p:txBody>
          <a:bodyPr wrap="square" rtlCol="0" anchor="ctr"/>
          <a:lstStyle/>
          <a:p>
            <a:pPr algn="ctr"/>
            <a:endParaRPr/>
          </a:p>
        </p:txBody>
      </p:sp>
      <p:sp>
        <p:nvSpPr>
          <p:cNvPr id="17" name="Rectangle 16"/>
          <p:cNvSpPr/>
          <p:nvPr/>
        </p:nvSpPr>
        <p:spPr>
          <a:xfrm>
            <a:off x="6562329" y="2336292"/>
            <a:ext cx="77724" cy="77724"/>
          </a:xfrm>
          <a:prstGeom prst="rect">
            <a:avLst/>
          </a:prstGeom>
          <a:solidFill>
            <a:srgbClr val="C05C3C"/>
          </a:solidFill>
          <a:ln>
            <a:noFill/>
          </a:ln>
          <a:effectLst/>
        </p:spPr>
        <p:txBody>
          <a:bodyPr wrap="square" rtlCol="0" anchor="ctr"/>
          <a:lstStyle/>
          <a:p>
            <a:pPr algn="ctr"/>
            <a:endParaRPr/>
          </a:p>
        </p:txBody>
      </p:sp>
      <p:sp>
        <p:nvSpPr>
          <p:cNvPr id="18" name="TextBox 17"/>
          <p:cNvSpPr txBox="1"/>
          <p:nvPr/>
        </p:nvSpPr>
        <p:spPr>
          <a:xfrm>
            <a:off x="6754353" y="2275027"/>
            <a:ext cx="3108960" cy="256032"/>
          </a:xfrm>
          <a:prstGeom prst="rect">
            <a:avLst/>
          </a:prstGeom>
          <a:noFill/>
        </p:spPr>
        <p:txBody>
          <a:bodyPr wrap="square" lIns="0" tIns="0" rIns="0" bIns="0" anchor="t">
            <a:noAutofit/>
          </a:bodyPr>
          <a:lstStyle/>
          <a:p>
            <a:pPr algn="l">
              <a:lnSpc>
                <a:spcPct val="100000"/>
              </a:lnSpc>
            </a:pPr>
            <a:r>
              <a:rPr sz="900" b="0" i="0" spc="220">
                <a:solidFill>
                  <a:srgbClr val="C05C3C"/>
                </a:solidFill>
                <a:latin typeface="Segoe UI Semibold"/>
              </a:rPr>
              <a:t>BEST TWO HOURS</a:t>
            </a:r>
          </a:p>
        </p:txBody>
      </p:sp>
      <p:pic>
        <p:nvPicPr>
          <p:cNvPr id="19" name="Picture 18" descr="card_wall.jpg"/>
          <p:cNvPicPr>
            <a:picLocks noChangeAspect="1"/>
          </p:cNvPicPr>
          <p:nvPr/>
        </p:nvPicPr>
        <p:blipFill>
          <a:blip r:embed="rId4"/>
          <a:stretch>
            <a:fillRect/>
          </a:stretch>
        </p:blipFill>
        <p:spPr>
          <a:xfrm>
            <a:off x="10104852" y="2267712"/>
            <a:ext cx="1062990" cy="1417320"/>
          </a:xfrm>
          <a:prstGeom prst="rect">
            <a:avLst/>
          </a:prstGeom>
          <a:ln w="9525">
            <a:solidFill>
              <a:srgbClr val="D6C9B4"/>
            </a:solidFill>
          </a:ln>
        </p:spPr>
      </p:pic>
      <p:sp>
        <p:nvSpPr>
          <p:cNvPr id="20" name="TextBox 19"/>
          <p:cNvSpPr txBox="1"/>
          <p:nvPr/>
        </p:nvSpPr>
        <p:spPr>
          <a:xfrm>
            <a:off x="6562329" y="2578608"/>
            <a:ext cx="3268203" cy="292608"/>
          </a:xfrm>
          <a:prstGeom prst="rect">
            <a:avLst/>
          </a:prstGeom>
          <a:noFill/>
        </p:spPr>
        <p:txBody>
          <a:bodyPr wrap="square" lIns="0" tIns="0" rIns="0" bIns="0" anchor="t">
            <a:noAutofit/>
          </a:bodyPr>
          <a:lstStyle/>
          <a:p>
            <a:pPr algn="l">
              <a:lnSpc>
                <a:spcPct val="105000"/>
              </a:lnSpc>
            </a:pPr>
            <a:r>
              <a:rPr sz="1650" b="1" i="0">
                <a:solidFill>
                  <a:srgbClr val="171922"/>
                </a:solidFill>
                <a:latin typeface="Georgia"/>
              </a:rPr>
              <a:t>Cycling the city wall</a:t>
            </a:r>
          </a:p>
        </p:txBody>
      </p:sp>
      <p:sp>
        <p:nvSpPr>
          <p:cNvPr id="21" name="TextBox 20"/>
          <p:cNvSpPr txBox="1"/>
          <p:nvPr/>
        </p:nvSpPr>
        <p:spPr>
          <a:xfrm>
            <a:off x="6562329" y="2907792"/>
            <a:ext cx="3268203" cy="457200"/>
          </a:xfrm>
          <a:prstGeom prst="rect">
            <a:avLst/>
          </a:prstGeom>
          <a:noFill/>
        </p:spPr>
        <p:txBody>
          <a:bodyPr wrap="square" lIns="0" tIns="0" rIns="0" bIns="0" anchor="t">
            <a:noAutofit/>
          </a:bodyPr>
          <a:lstStyle/>
          <a:p>
            <a:pPr algn="l">
              <a:lnSpc>
                <a:spcPct val="128000"/>
              </a:lnSpc>
            </a:pPr>
            <a:r>
              <a:rPr sz="1150" b="0" i="0">
                <a:solidFill>
                  <a:srgbClr val="7A7266"/>
                </a:solidFill>
                <a:latin typeface="Segoe UI"/>
              </a:rPr>
              <a:t>You ride on top of 13.74 km of Ming bricks, 12 m above the town.</a:t>
            </a:r>
          </a:p>
        </p:txBody>
      </p:sp>
      <p:sp>
        <p:nvSpPr>
          <p:cNvPr id="22" name="Rectangle 21"/>
          <p:cNvSpPr/>
          <p:nvPr/>
        </p:nvSpPr>
        <p:spPr>
          <a:xfrm>
            <a:off x="6562329" y="3474720"/>
            <a:ext cx="329184" cy="16510"/>
          </a:xfrm>
          <a:prstGeom prst="rect">
            <a:avLst/>
          </a:prstGeom>
          <a:solidFill>
            <a:srgbClr val="C79A45"/>
          </a:solidFill>
          <a:ln>
            <a:noFill/>
          </a:ln>
          <a:effectLst/>
        </p:spPr>
        <p:txBody>
          <a:bodyPr wrap="square" rtlCol="0" anchor="ctr"/>
          <a:lstStyle/>
          <a:p>
            <a:pPr algn="ctr"/>
            <a:endParaRPr/>
          </a:p>
        </p:txBody>
      </p:sp>
      <p:sp>
        <p:nvSpPr>
          <p:cNvPr id="23" name="TextBox 22"/>
          <p:cNvSpPr txBox="1"/>
          <p:nvPr/>
        </p:nvSpPr>
        <p:spPr>
          <a:xfrm>
            <a:off x="7001241" y="3401568"/>
            <a:ext cx="2829291" cy="402336"/>
          </a:xfrm>
          <a:prstGeom prst="rect">
            <a:avLst/>
          </a:prstGeom>
          <a:noFill/>
        </p:spPr>
        <p:txBody>
          <a:bodyPr wrap="square" lIns="0" tIns="0" rIns="0" bIns="0" anchor="t">
            <a:noAutofit/>
          </a:bodyPr>
          <a:lstStyle/>
          <a:p>
            <a:pPr algn="l">
              <a:lnSpc>
                <a:spcPct val="120000"/>
              </a:lnSpc>
            </a:pPr>
            <a:r>
              <a:rPr sz="1050" b="0" i="0">
                <a:solidFill>
                  <a:srgbClr val="9A4527"/>
                </a:solidFill>
                <a:latin typeface="Segoe UI"/>
              </a:rPr>
              <a:t>Rent at the South Gate  ·  ¥45</a:t>
            </a:r>
          </a:p>
        </p:txBody>
      </p:sp>
      <p:sp>
        <p:nvSpPr>
          <p:cNvPr id="24" name="Rounded Rectangle 23"/>
          <p:cNvSpPr/>
          <p:nvPr/>
        </p:nvSpPr>
        <p:spPr>
          <a:xfrm>
            <a:off x="749808" y="3950208"/>
            <a:ext cx="5190729" cy="1828800"/>
          </a:xfrm>
          <a:prstGeom prst="roundRect">
            <a:avLst>
              <a:gd name="adj" fmla="val 5500"/>
            </a:avLst>
          </a:prstGeom>
          <a:solidFill>
            <a:srgbClr val="EFE6D7"/>
          </a:solidFill>
          <a:ln w="11430">
            <a:solidFill>
              <a:srgbClr val="D6C9B4"/>
            </a:solidFill>
          </a:ln>
          <a:effectLst/>
        </p:spPr>
        <p:txBody>
          <a:bodyPr wrap="square" rtlCol="0" anchor="ctr"/>
          <a:lstStyle/>
          <a:p>
            <a:pPr algn="ctr"/>
            <a:endParaRPr/>
          </a:p>
        </p:txBody>
      </p:sp>
      <p:sp>
        <p:nvSpPr>
          <p:cNvPr id="25" name="Rectangle 24"/>
          <p:cNvSpPr/>
          <p:nvPr/>
        </p:nvSpPr>
        <p:spPr>
          <a:xfrm>
            <a:off x="1060704" y="4238244"/>
            <a:ext cx="77724" cy="77724"/>
          </a:xfrm>
          <a:prstGeom prst="rect">
            <a:avLst/>
          </a:prstGeom>
          <a:solidFill>
            <a:srgbClr val="C05C3C"/>
          </a:solidFill>
          <a:ln>
            <a:noFill/>
          </a:ln>
          <a:effectLst/>
        </p:spPr>
        <p:txBody>
          <a:bodyPr wrap="square" rtlCol="0" anchor="ctr"/>
          <a:lstStyle/>
          <a:p>
            <a:pPr algn="ctr"/>
            <a:endParaRPr/>
          </a:p>
        </p:txBody>
      </p:sp>
      <p:sp>
        <p:nvSpPr>
          <p:cNvPr id="26" name="TextBox 25"/>
          <p:cNvSpPr txBox="1"/>
          <p:nvPr/>
        </p:nvSpPr>
        <p:spPr>
          <a:xfrm>
            <a:off x="1252728" y="4176979"/>
            <a:ext cx="3108960" cy="256032"/>
          </a:xfrm>
          <a:prstGeom prst="rect">
            <a:avLst/>
          </a:prstGeom>
          <a:noFill/>
        </p:spPr>
        <p:txBody>
          <a:bodyPr wrap="square" lIns="0" tIns="0" rIns="0" bIns="0" anchor="t">
            <a:noAutofit/>
          </a:bodyPr>
          <a:lstStyle/>
          <a:p>
            <a:pPr algn="l">
              <a:lnSpc>
                <a:spcPct val="100000"/>
              </a:lnSpc>
            </a:pPr>
            <a:r>
              <a:rPr sz="900" b="0" i="0" spc="220">
                <a:solidFill>
                  <a:srgbClr val="C05C3C"/>
                </a:solidFill>
                <a:latin typeface="Segoe UI Semibold"/>
              </a:rPr>
              <a:t>BEST FOOD</a:t>
            </a:r>
          </a:p>
        </p:txBody>
      </p:sp>
      <p:pic>
        <p:nvPicPr>
          <p:cNvPr id="27" name="Picture 26" descr="card_muslim.jpg"/>
          <p:cNvPicPr>
            <a:picLocks noChangeAspect="1"/>
          </p:cNvPicPr>
          <p:nvPr/>
        </p:nvPicPr>
        <p:blipFill>
          <a:blip r:embed="rId5"/>
          <a:stretch>
            <a:fillRect/>
          </a:stretch>
        </p:blipFill>
        <p:spPr>
          <a:xfrm>
            <a:off x="4603227" y="4169664"/>
            <a:ext cx="1062990" cy="1417320"/>
          </a:xfrm>
          <a:prstGeom prst="rect">
            <a:avLst/>
          </a:prstGeom>
          <a:ln w="9525">
            <a:solidFill>
              <a:srgbClr val="D6C9B4"/>
            </a:solidFill>
          </a:ln>
        </p:spPr>
      </p:pic>
      <p:sp>
        <p:nvSpPr>
          <p:cNvPr id="28" name="TextBox 27"/>
          <p:cNvSpPr txBox="1"/>
          <p:nvPr/>
        </p:nvSpPr>
        <p:spPr>
          <a:xfrm>
            <a:off x="1060704" y="4480560"/>
            <a:ext cx="3268203" cy="292608"/>
          </a:xfrm>
          <a:prstGeom prst="rect">
            <a:avLst/>
          </a:prstGeom>
          <a:noFill/>
        </p:spPr>
        <p:txBody>
          <a:bodyPr wrap="square" lIns="0" tIns="0" rIns="0" bIns="0" anchor="t">
            <a:noAutofit/>
          </a:bodyPr>
          <a:lstStyle/>
          <a:p>
            <a:pPr algn="l">
              <a:lnSpc>
                <a:spcPct val="105000"/>
              </a:lnSpc>
            </a:pPr>
            <a:r>
              <a:rPr sz="1650" b="1" i="0">
                <a:solidFill>
                  <a:srgbClr val="171922"/>
                </a:solidFill>
                <a:latin typeface="Georgia"/>
              </a:rPr>
              <a:t>The Muslim Quarter</a:t>
            </a:r>
          </a:p>
        </p:txBody>
      </p:sp>
      <p:sp>
        <p:nvSpPr>
          <p:cNvPr id="29" name="TextBox 28"/>
          <p:cNvSpPr txBox="1"/>
          <p:nvPr/>
        </p:nvSpPr>
        <p:spPr>
          <a:xfrm>
            <a:off x="1060704" y="4809744"/>
            <a:ext cx="3268203" cy="457200"/>
          </a:xfrm>
          <a:prstGeom prst="rect">
            <a:avLst/>
          </a:prstGeom>
          <a:noFill/>
        </p:spPr>
        <p:txBody>
          <a:bodyPr wrap="square" lIns="0" tIns="0" rIns="0" bIns="0" anchor="t">
            <a:noAutofit/>
          </a:bodyPr>
          <a:lstStyle/>
          <a:p>
            <a:pPr algn="l">
              <a:lnSpc>
                <a:spcPct val="128000"/>
              </a:lnSpc>
            </a:pPr>
            <a:r>
              <a:rPr sz="1150" b="0" i="0">
                <a:solidFill>
                  <a:srgbClr val="7A7266"/>
                </a:solidFill>
                <a:latin typeface="Segoe UI"/>
              </a:rPr>
              <a:t>A living Hui area full of lamb on sticks, flat bread and hot pepper.</a:t>
            </a:r>
          </a:p>
        </p:txBody>
      </p:sp>
      <p:sp>
        <p:nvSpPr>
          <p:cNvPr id="30" name="Rectangle 29"/>
          <p:cNvSpPr/>
          <p:nvPr/>
        </p:nvSpPr>
        <p:spPr>
          <a:xfrm>
            <a:off x="1060704" y="5376672"/>
            <a:ext cx="329184" cy="16510"/>
          </a:xfrm>
          <a:prstGeom prst="rect">
            <a:avLst/>
          </a:prstGeom>
          <a:solidFill>
            <a:srgbClr val="C79A45"/>
          </a:solidFill>
          <a:ln>
            <a:noFill/>
          </a:ln>
          <a:effectLst/>
        </p:spPr>
        <p:txBody>
          <a:bodyPr wrap="square" rtlCol="0" anchor="ctr"/>
          <a:lstStyle/>
          <a:p>
            <a:pPr algn="ctr"/>
            <a:endParaRPr/>
          </a:p>
        </p:txBody>
      </p:sp>
      <p:sp>
        <p:nvSpPr>
          <p:cNvPr id="31" name="TextBox 30"/>
          <p:cNvSpPr txBox="1"/>
          <p:nvPr/>
        </p:nvSpPr>
        <p:spPr>
          <a:xfrm>
            <a:off x="1499616" y="5303520"/>
            <a:ext cx="2829291" cy="402336"/>
          </a:xfrm>
          <a:prstGeom prst="rect">
            <a:avLst/>
          </a:prstGeom>
          <a:noFill/>
        </p:spPr>
        <p:txBody>
          <a:bodyPr wrap="square" lIns="0" tIns="0" rIns="0" bIns="0" anchor="t">
            <a:noAutofit/>
          </a:bodyPr>
          <a:lstStyle/>
          <a:p>
            <a:pPr algn="l">
              <a:lnSpc>
                <a:spcPct val="120000"/>
              </a:lnSpc>
            </a:pPr>
            <a:r>
              <a:rPr sz="1050" b="0" i="0">
                <a:solidFill>
                  <a:srgbClr val="9A4527"/>
                </a:solidFill>
                <a:latin typeface="Segoe UI"/>
              </a:rPr>
              <a:t>Behind the Drum Tower  ·  go at night</a:t>
            </a:r>
          </a:p>
        </p:txBody>
      </p:sp>
      <p:sp>
        <p:nvSpPr>
          <p:cNvPr id="32" name="Rounded Rectangle 31"/>
          <p:cNvSpPr/>
          <p:nvPr/>
        </p:nvSpPr>
        <p:spPr>
          <a:xfrm>
            <a:off x="6251433" y="3950208"/>
            <a:ext cx="5190729" cy="1828800"/>
          </a:xfrm>
          <a:prstGeom prst="roundRect">
            <a:avLst>
              <a:gd name="adj" fmla="val 5500"/>
            </a:avLst>
          </a:prstGeom>
          <a:solidFill>
            <a:srgbClr val="EFE6D7"/>
          </a:solidFill>
          <a:ln w="11430">
            <a:solidFill>
              <a:srgbClr val="D6C9B4"/>
            </a:solidFill>
          </a:ln>
          <a:effectLst/>
        </p:spPr>
        <p:txBody>
          <a:bodyPr wrap="square" rtlCol="0" anchor="ctr"/>
          <a:lstStyle/>
          <a:p>
            <a:pPr algn="ctr"/>
            <a:endParaRPr/>
          </a:p>
        </p:txBody>
      </p:sp>
      <p:sp>
        <p:nvSpPr>
          <p:cNvPr id="33" name="Rectangle 32"/>
          <p:cNvSpPr/>
          <p:nvPr/>
        </p:nvSpPr>
        <p:spPr>
          <a:xfrm>
            <a:off x="6562329" y="4238244"/>
            <a:ext cx="77724" cy="77724"/>
          </a:xfrm>
          <a:prstGeom prst="rect">
            <a:avLst/>
          </a:prstGeom>
          <a:solidFill>
            <a:srgbClr val="C05C3C"/>
          </a:solidFill>
          <a:ln>
            <a:noFill/>
          </a:ln>
          <a:effectLst/>
        </p:spPr>
        <p:txBody>
          <a:bodyPr wrap="square" rtlCol="0" anchor="ctr"/>
          <a:lstStyle/>
          <a:p>
            <a:pPr algn="ctr"/>
            <a:endParaRPr/>
          </a:p>
        </p:txBody>
      </p:sp>
      <p:sp>
        <p:nvSpPr>
          <p:cNvPr id="34" name="TextBox 33"/>
          <p:cNvSpPr txBox="1"/>
          <p:nvPr/>
        </p:nvSpPr>
        <p:spPr>
          <a:xfrm>
            <a:off x="6754353" y="4176979"/>
            <a:ext cx="3108960" cy="256032"/>
          </a:xfrm>
          <a:prstGeom prst="rect">
            <a:avLst/>
          </a:prstGeom>
          <a:noFill/>
        </p:spPr>
        <p:txBody>
          <a:bodyPr wrap="square" lIns="0" tIns="0" rIns="0" bIns="0" anchor="t">
            <a:noAutofit/>
          </a:bodyPr>
          <a:lstStyle/>
          <a:p>
            <a:pPr algn="l">
              <a:lnSpc>
                <a:spcPct val="100000"/>
              </a:lnSpc>
            </a:pPr>
            <a:r>
              <a:rPr sz="900" b="0" i="0" spc="220">
                <a:solidFill>
                  <a:srgbClr val="C05C3C"/>
                </a:solidFill>
                <a:latin typeface="Segoe UI Semibold"/>
              </a:rPr>
              <a:t>BEST AT NIGHT</a:t>
            </a:r>
          </a:p>
        </p:txBody>
      </p:sp>
      <p:pic>
        <p:nvPicPr>
          <p:cNvPr id="35" name="Picture 34" descr="card_datang.jpg"/>
          <p:cNvPicPr>
            <a:picLocks noChangeAspect="1"/>
          </p:cNvPicPr>
          <p:nvPr/>
        </p:nvPicPr>
        <p:blipFill>
          <a:blip r:embed="rId6"/>
          <a:stretch>
            <a:fillRect/>
          </a:stretch>
        </p:blipFill>
        <p:spPr>
          <a:xfrm>
            <a:off x="10104852" y="4169664"/>
            <a:ext cx="1062990" cy="1417320"/>
          </a:xfrm>
          <a:prstGeom prst="rect">
            <a:avLst/>
          </a:prstGeom>
          <a:ln w="9525">
            <a:solidFill>
              <a:srgbClr val="D6C9B4"/>
            </a:solidFill>
          </a:ln>
        </p:spPr>
      </p:pic>
      <p:sp>
        <p:nvSpPr>
          <p:cNvPr id="36" name="TextBox 35"/>
          <p:cNvSpPr txBox="1"/>
          <p:nvPr/>
        </p:nvSpPr>
        <p:spPr>
          <a:xfrm>
            <a:off x="6562329" y="4480560"/>
            <a:ext cx="3268203" cy="292608"/>
          </a:xfrm>
          <a:prstGeom prst="rect">
            <a:avLst/>
          </a:prstGeom>
          <a:noFill/>
        </p:spPr>
        <p:txBody>
          <a:bodyPr wrap="square" lIns="0" tIns="0" rIns="0" bIns="0" anchor="t">
            <a:noAutofit/>
          </a:bodyPr>
          <a:lstStyle/>
          <a:p>
            <a:pPr algn="l">
              <a:lnSpc>
                <a:spcPct val="105000"/>
              </a:lnSpc>
            </a:pPr>
            <a:r>
              <a:rPr sz="1650" b="1" i="0">
                <a:solidFill>
                  <a:srgbClr val="171922"/>
                </a:solidFill>
                <a:latin typeface="Georgia"/>
              </a:rPr>
              <a:t>Datang Everbright City</a:t>
            </a:r>
          </a:p>
        </p:txBody>
      </p:sp>
      <p:sp>
        <p:nvSpPr>
          <p:cNvPr id="37" name="TextBox 36"/>
          <p:cNvSpPr txBox="1"/>
          <p:nvPr/>
        </p:nvSpPr>
        <p:spPr>
          <a:xfrm>
            <a:off x="6562329" y="4809744"/>
            <a:ext cx="3268203" cy="457200"/>
          </a:xfrm>
          <a:prstGeom prst="rect">
            <a:avLst/>
          </a:prstGeom>
          <a:noFill/>
        </p:spPr>
        <p:txBody>
          <a:bodyPr wrap="square" lIns="0" tIns="0" rIns="0" bIns="0" anchor="t">
            <a:noAutofit/>
          </a:bodyPr>
          <a:lstStyle/>
          <a:p>
            <a:pPr algn="l">
              <a:lnSpc>
                <a:spcPct val="128000"/>
              </a:lnSpc>
            </a:pPr>
            <a:r>
              <a:rPr sz="1150" b="0" i="0">
                <a:solidFill>
                  <a:srgbClr val="7A7266"/>
                </a:solidFill>
                <a:latin typeface="Segoe UI"/>
              </a:rPr>
              <a:t>A Tang street that comes alive with lights, beside the Big Wild Goose Pagoda.</a:t>
            </a:r>
          </a:p>
        </p:txBody>
      </p:sp>
      <p:sp>
        <p:nvSpPr>
          <p:cNvPr id="38" name="Rectangle 37"/>
          <p:cNvSpPr/>
          <p:nvPr/>
        </p:nvSpPr>
        <p:spPr>
          <a:xfrm>
            <a:off x="6562329" y="5376672"/>
            <a:ext cx="329184" cy="16510"/>
          </a:xfrm>
          <a:prstGeom prst="rect">
            <a:avLst/>
          </a:prstGeom>
          <a:solidFill>
            <a:srgbClr val="C79A45"/>
          </a:solidFill>
          <a:ln>
            <a:noFill/>
          </a:ln>
          <a:effectLst/>
        </p:spPr>
        <p:txBody>
          <a:bodyPr wrap="square" rtlCol="0" anchor="ctr"/>
          <a:lstStyle/>
          <a:p>
            <a:pPr algn="ctr"/>
            <a:endParaRPr/>
          </a:p>
        </p:txBody>
      </p:sp>
      <p:sp>
        <p:nvSpPr>
          <p:cNvPr id="39" name="TextBox 38"/>
          <p:cNvSpPr txBox="1"/>
          <p:nvPr/>
        </p:nvSpPr>
        <p:spPr>
          <a:xfrm>
            <a:off x="7001241" y="5303520"/>
            <a:ext cx="2829291" cy="402336"/>
          </a:xfrm>
          <a:prstGeom prst="rect">
            <a:avLst/>
          </a:prstGeom>
          <a:noFill/>
        </p:spPr>
        <p:txBody>
          <a:bodyPr wrap="square" lIns="0" tIns="0" rIns="0" bIns="0" anchor="t">
            <a:noAutofit/>
          </a:bodyPr>
          <a:lstStyle/>
          <a:p>
            <a:pPr algn="l">
              <a:lnSpc>
                <a:spcPct val="120000"/>
              </a:lnSpc>
            </a:pPr>
            <a:r>
              <a:rPr sz="1050" b="0" i="0">
                <a:solidFill>
                  <a:srgbClr val="9A4527"/>
                </a:solidFill>
                <a:latin typeface="Segoe UI"/>
              </a:rPr>
              <a:t>Free to walk  ·  go after dark</a:t>
            </a:r>
          </a:p>
        </p:txBody>
      </p:sp>
      <p:sp>
        <p:nvSpPr>
          <p:cNvPr id="40" name="TextBox 39"/>
          <p:cNvSpPr txBox="1"/>
          <p:nvPr/>
        </p:nvSpPr>
        <p:spPr>
          <a:xfrm>
            <a:off x="749808" y="5943600"/>
            <a:ext cx="10692354" cy="310896"/>
          </a:xfrm>
          <a:prstGeom prst="rect">
            <a:avLst/>
          </a:prstGeom>
          <a:noFill/>
        </p:spPr>
        <p:txBody>
          <a:bodyPr wrap="square" lIns="0" tIns="0" rIns="0" bIns="0" anchor="t">
            <a:noAutofit/>
          </a:bodyPr>
          <a:lstStyle/>
          <a:p>
            <a:pPr algn="l">
              <a:lnSpc>
                <a:spcPct val="120000"/>
              </a:lnSpc>
            </a:pPr>
            <a:r>
              <a:rPr sz="900" b="0" i="0" spc="220" dirty="0">
                <a:solidFill>
                  <a:srgbClr val="C05C3C"/>
                </a:solidFill>
                <a:latin typeface="Segoe UI Semibold"/>
              </a:rPr>
              <a:t>ALSO WORTH IT   </a:t>
            </a:r>
            <a:r>
              <a:rPr sz="1100" b="0" i="0" dirty="0">
                <a:solidFill>
                  <a:srgbClr val="7A7266"/>
                </a:solidFill>
                <a:latin typeface="Segoe UI"/>
              </a:rPr>
              <a:t>Shaanxi </a:t>
            </a:r>
            <a:r>
              <a:rPr sz="1100" b="0" i="0">
                <a:solidFill>
                  <a:srgbClr val="7A7266"/>
                </a:solidFill>
                <a:latin typeface="Segoe UI"/>
              </a:rPr>
              <a:t>History Museum</a:t>
            </a:r>
            <a:r>
              <a:rPr lang="en-US" sz="1100">
                <a:solidFill>
                  <a:srgbClr val="7A7266"/>
                </a:solidFill>
                <a:latin typeface="Segoe UI"/>
              </a:rPr>
              <a:t>   </a:t>
            </a:r>
            <a:r>
              <a:rPr sz="1100" b="0" i="0">
                <a:solidFill>
                  <a:srgbClr val="7A7266"/>
                </a:solidFill>
                <a:latin typeface="Segoe UI"/>
              </a:rPr>
              <a:t>·   </a:t>
            </a:r>
            <a:r>
              <a:rPr sz="1100" b="0" i="0" dirty="0">
                <a:solidFill>
                  <a:srgbClr val="7A7266"/>
                </a:solidFill>
                <a:latin typeface="Segoe UI"/>
              </a:rPr>
              <a:t>Bell and Drum Tower   ·   Mount Hua day trip   ·   </a:t>
            </a:r>
            <a:r>
              <a:rPr sz="1100" b="0" i="0" dirty="0" err="1">
                <a:solidFill>
                  <a:srgbClr val="7A7266"/>
                </a:solidFill>
                <a:latin typeface="Segoe UI"/>
              </a:rPr>
              <a:t>Huaqing</a:t>
            </a:r>
            <a:r>
              <a:rPr sz="1100" b="0" i="0" dirty="0">
                <a:solidFill>
                  <a:srgbClr val="7A7266"/>
                </a:solidFill>
                <a:latin typeface="Segoe UI"/>
              </a:rPr>
              <a:t> Palace</a:t>
            </a:r>
          </a:p>
        </p:txBody>
      </p:sp>
      <p:sp>
        <p:nvSpPr>
          <p:cNvPr id="41" name="TextBox 40"/>
          <p:cNvSpPr txBox="1"/>
          <p:nvPr/>
        </p:nvSpPr>
        <p:spPr>
          <a:xfrm>
            <a:off x="749808" y="6455664"/>
            <a:ext cx="7484647" cy="237744"/>
          </a:xfrm>
          <a:prstGeom prst="rect">
            <a:avLst/>
          </a:prstGeom>
          <a:noFill/>
        </p:spPr>
        <p:txBody>
          <a:bodyPr wrap="square" lIns="0" tIns="0" rIns="0" bIns="0" anchor="t">
            <a:noAutofit/>
          </a:bodyPr>
          <a:lstStyle/>
          <a:p>
            <a:pPr algn="l">
              <a:lnSpc>
                <a:spcPct val="100000"/>
              </a:lnSpc>
            </a:pPr>
            <a:r>
              <a:rPr sz="800" b="0" i="0" spc="220">
                <a:solidFill>
                  <a:srgbClr val="A8A094"/>
                </a:solidFill>
                <a:latin typeface="Segoe UI"/>
              </a:rPr>
              <a:t>XI'AN  ·  AN INTERESTING PLACE</a:t>
            </a:r>
          </a:p>
        </p:txBody>
      </p:sp>
      <p:sp>
        <p:nvSpPr>
          <p:cNvPr id="42" name="TextBox 41"/>
          <p:cNvSpPr txBox="1"/>
          <p:nvPr/>
        </p:nvSpPr>
        <p:spPr>
          <a:xfrm>
            <a:off x="10344882" y="6441948"/>
            <a:ext cx="1097280" cy="256032"/>
          </a:xfrm>
          <a:prstGeom prst="rect">
            <a:avLst/>
          </a:prstGeom>
          <a:noFill/>
        </p:spPr>
        <p:txBody>
          <a:bodyPr wrap="square" lIns="0" tIns="0" rIns="0" bIns="0" anchor="t">
            <a:noAutofit/>
          </a:bodyPr>
          <a:lstStyle/>
          <a:p>
            <a:pPr algn="r">
              <a:lnSpc>
                <a:spcPct val="100000"/>
              </a:lnSpc>
            </a:pPr>
            <a:r>
              <a:rPr sz="1000" b="1" i="0">
                <a:solidFill>
                  <a:srgbClr val="C05C3C"/>
                </a:solidFill>
                <a:latin typeface="Georgia"/>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slate.jpg"/>
          <p:cNvPicPr>
            <a:picLocks noChangeAspect="1"/>
          </p:cNvPicPr>
          <p:nvPr/>
        </p:nvPicPr>
        <p:blipFill>
          <a:blip r:embed="rId2"/>
          <a:stretch>
            <a:fillRect/>
          </a:stretch>
        </p:blipFill>
        <p:spPr>
          <a:xfrm>
            <a:off x="0" y="0"/>
            <a:ext cx="12191970" cy="6858000"/>
          </a:xfrm>
          <a:prstGeom prst="rect">
            <a:avLst/>
          </a:prstGeom>
        </p:spPr>
      </p:pic>
      <p:sp>
        <p:nvSpPr>
          <p:cNvPr id="3" name="Rectangle 2"/>
          <p:cNvSpPr/>
          <p:nvPr/>
        </p:nvSpPr>
        <p:spPr>
          <a:xfrm>
            <a:off x="749808" y="617220"/>
            <a:ext cx="274320" cy="32004"/>
          </a:xfrm>
          <a:prstGeom prst="rect">
            <a:avLst/>
          </a:prstGeom>
          <a:solidFill>
            <a:srgbClr val="C79A45"/>
          </a:solidFill>
          <a:ln>
            <a:noFill/>
          </a:ln>
          <a:effectLst/>
        </p:spPr>
        <p:txBody>
          <a:bodyPr wrap="square" rtlCol="0" anchor="ctr"/>
          <a:lstStyle/>
          <a:p>
            <a:pPr algn="ctr"/>
            <a:endParaRPr/>
          </a:p>
        </p:txBody>
      </p:sp>
      <p:sp>
        <p:nvSpPr>
          <p:cNvPr id="4" name="TextBox 3"/>
          <p:cNvSpPr txBox="1"/>
          <p:nvPr/>
        </p:nvSpPr>
        <p:spPr>
          <a:xfrm>
            <a:off x="1152144" y="516636"/>
            <a:ext cx="10290018" cy="310896"/>
          </a:xfrm>
          <a:prstGeom prst="rect">
            <a:avLst/>
          </a:prstGeom>
          <a:noFill/>
        </p:spPr>
        <p:txBody>
          <a:bodyPr wrap="square" lIns="0" tIns="0" rIns="0" bIns="0" anchor="t">
            <a:noAutofit/>
          </a:bodyPr>
          <a:lstStyle/>
          <a:p>
            <a:pPr algn="l">
              <a:lnSpc>
                <a:spcPct val="100000"/>
              </a:lnSpc>
            </a:pPr>
            <a:r>
              <a:rPr sz="1050" b="0" i="0" spc="260">
                <a:solidFill>
                  <a:srgbClr val="C79A45"/>
                </a:solidFill>
                <a:latin typeface="Segoe UI Semibold"/>
              </a:rPr>
              <a:t>04  ·  OPINION (NEGATIVES)</a:t>
            </a:r>
          </a:p>
        </p:txBody>
      </p:sp>
      <p:sp>
        <p:nvSpPr>
          <p:cNvPr id="5" name="TextBox 4"/>
          <p:cNvSpPr txBox="1"/>
          <p:nvPr/>
        </p:nvSpPr>
        <p:spPr>
          <a:xfrm>
            <a:off x="749808" y="768096"/>
            <a:ext cx="9623118" cy="640080"/>
          </a:xfrm>
          <a:prstGeom prst="rect">
            <a:avLst/>
          </a:prstGeom>
          <a:noFill/>
        </p:spPr>
        <p:txBody>
          <a:bodyPr wrap="square" lIns="0" tIns="0" rIns="0" bIns="0" anchor="t">
            <a:noAutofit/>
          </a:bodyPr>
          <a:lstStyle/>
          <a:p>
            <a:pPr algn="l">
              <a:lnSpc>
                <a:spcPct val="103000"/>
              </a:lnSpc>
            </a:pPr>
            <a:r>
              <a:rPr sz="3300" b="1" i="0">
                <a:solidFill>
                  <a:srgbClr val="F7F2E9"/>
                </a:solidFill>
                <a:latin typeface="Georgia"/>
              </a:rPr>
              <a:t>The honest part</a:t>
            </a:r>
          </a:p>
        </p:txBody>
      </p:sp>
      <p:sp>
        <p:nvSpPr>
          <p:cNvPr id="6" name="TextBox 5"/>
          <p:cNvSpPr txBox="1"/>
          <p:nvPr/>
        </p:nvSpPr>
        <p:spPr>
          <a:xfrm>
            <a:off x="749808" y="1316736"/>
            <a:ext cx="10354638" cy="493776"/>
          </a:xfrm>
          <a:prstGeom prst="rect">
            <a:avLst/>
          </a:prstGeom>
          <a:noFill/>
        </p:spPr>
        <p:txBody>
          <a:bodyPr wrap="square" lIns="0" tIns="0" rIns="0" bIns="0" anchor="t">
            <a:noAutofit/>
          </a:bodyPr>
          <a:lstStyle/>
          <a:p>
            <a:pPr algn="l">
              <a:lnSpc>
                <a:spcPct val="134000"/>
              </a:lnSpc>
            </a:pPr>
            <a:r>
              <a:rPr sz="1300" b="0" i="0">
                <a:solidFill>
                  <a:srgbClr val="96919C"/>
                </a:solidFill>
                <a:latin typeface="Segoe UI"/>
              </a:rPr>
              <a:t>Nothing is perfect. These are the things visitors really complain about.</a:t>
            </a:r>
          </a:p>
        </p:txBody>
      </p:sp>
      <p:sp>
        <p:nvSpPr>
          <p:cNvPr id="7" name="Rectangle 6"/>
          <p:cNvSpPr/>
          <p:nvPr/>
        </p:nvSpPr>
        <p:spPr>
          <a:xfrm>
            <a:off x="749808" y="1847088"/>
            <a:ext cx="10692354" cy="13970"/>
          </a:xfrm>
          <a:prstGeom prst="rect">
            <a:avLst/>
          </a:prstGeom>
          <a:solidFill>
            <a:srgbClr val="3A3E4C"/>
          </a:solidFill>
          <a:ln>
            <a:noFill/>
          </a:ln>
          <a:effectLst/>
        </p:spPr>
        <p:txBody>
          <a:bodyPr wrap="square" rtlCol="0" anchor="ctr"/>
          <a:lstStyle/>
          <a:p>
            <a:pPr algn="ctr"/>
            <a:endParaRPr/>
          </a:p>
        </p:txBody>
      </p:sp>
      <p:sp>
        <p:nvSpPr>
          <p:cNvPr id="8" name="Rectangle 7"/>
          <p:cNvSpPr/>
          <p:nvPr/>
        </p:nvSpPr>
        <p:spPr>
          <a:xfrm>
            <a:off x="749808" y="1947672"/>
            <a:ext cx="10692354" cy="12700"/>
          </a:xfrm>
          <a:prstGeom prst="rect">
            <a:avLst/>
          </a:prstGeom>
          <a:solidFill>
            <a:srgbClr val="424755"/>
          </a:solidFill>
          <a:ln>
            <a:noFill/>
          </a:ln>
          <a:effectLst/>
        </p:spPr>
        <p:txBody>
          <a:bodyPr wrap="square" rtlCol="0" anchor="ctr"/>
          <a:lstStyle/>
          <a:p>
            <a:pPr algn="ctr"/>
            <a:endParaRPr/>
          </a:p>
        </p:txBody>
      </p:sp>
      <p:sp>
        <p:nvSpPr>
          <p:cNvPr id="9" name="Rectangle 8"/>
          <p:cNvSpPr/>
          <p:nvPr/>
        </p:nvSpPr>
        <p:spPr>
          <a:xfrm rot="2700000">
            <a:off x="749808" y="2144268"/>
            <a:ext cx="82296" cy="82296"/>
          </a:xfrm>
          <a:prstGeom prst="rect">
            <a:avLst/>
          </a:prstGeom>
          <a:solidFill>
            <a:srgbClr val="C05C3C"/>
          </a:solidFill>
          <a:ln>
            <a:noFill/>
          </a:ln>
          <a:effectLst/>
        </p:spPr>
        <p:txBody>
          <a:bodyPr wrap="square" rtlCol="0" anchor="ctr"/>
          <a:lstStyle/>
          <a:p>
            <a:pPr algn="ctr"/>
            <a:endParaRPr/>
          </a:p>
        </p:txBody>
      </p:sp>
      <p:sp>
        <p:nvSpPr>
          <p:cNvPr id="10" name="TextBox 9"/>
          <p:cNvSpPr txBox="1"/>
          <p:nvPr/>
        </p:nvSpPr>
        <p:spPr>
          <a:xfrm>
            <a:off x="1133856" y="2093976"/>
            <a:ext cx="3520440" cy="292608"/>
          </a:xfrm>
          <a:prstGeom prst="rect">
            <a:avLst/>
          </a:prstGeom>
          <a:noFill/>
        </p:spPr>
        <p:txBody>
          <a:bodyPr wrap="square" lIns="0" tIns="0" rIns="0" bIns="0" anchor="t">
            <a:noAutofit/>
          </a:bodyPr>
          <a:lstStyle/>
          <a:p>
            <a:pPr algn="l">
              <a:lnSpc>
                <a:spcPct val="105000"/>
              </a:lnSpc>
            </a:pPr>
            <a:r>
              <a:rPr sz="1350" b="1" i="0">
                <a:solidFill>
                  <a:srgbClr val="F7F2E9"/>
                </a:solidFill>
                <a:latin typeface="Georgia"/>
              </a:rPr>
              <a:t>Booking is the hard part</a:t>
            </a:r>
          </a:p>
        </p:txBody>
      </p:sp>
      <p:sp>
        <p:nvSpPr>
          <p:cNvPr id="11" name="TextBox 10"/>
          <p:cNvSpPr txBox="1"/>
          <p:nvPr/>
        </p:nvSpPr>
        <p:spPr>
          <a:xfrm>
            <a:off x="4818888" y="2112264"/>
            <a:ext cx="6623274" cy="457200"/>
          </a:xfrm>
          <a:prstGeom prst="rect">
            <a:avLst/>
          </a:prstGeom>
          <a:noFill/>
        </p:spPr>
        <p:txBody>
          <a:bodyPr wrap="square" lIns="0" tIns="0" rIns="0" bIns="0" anchor="t">
            <a:noAutofit/>
          </a:bodyPr>
          <a:lstStyle/>
          <a:p>
            <a:pPr algn="l">
              <a:lnSpc>
                <a:spcPct val="126000"/>
              </a:lnSpc>
            </a:pPr>
            <a:r>
              <a:rPr sz="1100" b="0" i="0">
                <a:solidFill>
                  <a:srgbClr val="C4BBAC"/>
                </a:solidFill>
                <a:latin typeface="Segoe UI"/>
              </a:rPr>
              <a:t>You must book with your real name and choose a time. Only 65,000 people can go in each day, and at Spring Festival it sells out. You also need your passport number.</a:t>
            </a:r>
          </a:p>
        </p:txBody>
      </p:sp>
      <p:sp>
        <p:nvSpPr>
          <p:cNvPr id="12" name="Rectangle 11"/>
          <p:cNvSpPr/>
          <p:nvPr/>
        </p:nvSpPr>
        <p:spPr>
          <a:xfrm>
            <a:off x="749808" y="2606040"/>
            <a:ext cx="10692354" cy="12700"/>
          </a:xfrm>
          <a:prstGeom prst="rect">
            <a:avLst/>
          </a:prstGeom>
          <a:solidFill>
            <a:srgbClr val="424755"/>
          </a:solidFill>
          <a:ln>
            <a:noFill/>
          </a:ln>
          <a:effectLst/>
        </p:spPr>
        <p:txBody>
          <a:bodyPr wrap="square" rtlCol="0" anchor="ctr"/>
          <a:lstStyle/>
          <a:p>
            <a:pPr algn="ctr"/>
            <a:endParaRPr/>
          </a:p>
        </p:txBody>
      </p:sp>
      <p:sp>
        <p:nvSpPr>
          <p:cNvPr id="13" name="Rectangle 12"/>
          <p:cNvSpPr/>
          <p:nvPr/>
        </p:nvSpPr>
        <p:spPr>
          <a:xfrm rot="2700000">
            <a:off x="749808" y="2802636"/>
            <a:ext cx="82296" cy="82296"/>
          </a:xfrm>
          <a:prstGeom prst="rect">
            <a:avLst/>
          </a:prstGeom>
          <a:solidFill>
            <a:srgbClr val="C05C3C"/>
          </a:solidFill>
          <a:ln>
            <a:noFill/>
          </a:ln>
          <a:effectLst/>
        </p:spPr>
        <p:txBody>
          <a:bodyPr wrap="square" rtlCol="0" anchor="ctr"/>
          <a:lstStyle/>
          <a:p>
            <a:pPr algn="ctr"/>
            <a:endParaRPr/>
          </a:p>
        </p:txBody>
      </p:sp>
      <p:sp>
        <p:nvSpPr>
          <p:cNvPr id="14" name="TextBox 13"/>
          <p:cNvSpPr txBox="1"/>
          <p:nvPr/>
        </p:nvSpPr>
        <p:spPr>
          <a:xfrm>
            <a:off x="1133856" y="2752344"/>
            <a:ext cx="3520440" cy="292608"/>
          </a:xfrm>
          <a:prstGeom prst="rect">
            <a:avLst/>
          </a:prstGeom>
          <a:noFill/>
        </p:spPr>
        <p:txBody>
          <a:bodyPr wrap="square" lIns="0" tIns="0" rIns="0" bIns="0" anchor="t">
            <a:noAutofit/>
          </a:bodyPr>
          <a:lstStyle/>
          <a:p>
            <a:pPr algn="l">
              <a:lnSpc>
                <a:spcPct val="105000"/>
              </a:lnSpc>
            </a:pPr>
            <a:r>
              <a:rPr sz="1350" b="1" i="0">
                <a:solidFill>
                  <a:srgbClr val="F7F2E9"/>
                </a:solidFill>
                <a:latin typeface="Georgia"/>
              </a:rPr>
              <a:t>Crowds — and a long way out</a:t>
            </a:r>
          </a:p>
        </p:txBody>
      </p:sp>
      <p:sp>
        <p:nvSpPr>
          <p:cNvPr id="15" name="TextBox 14"/>
          <p:cNvSpPr txBox="1"/>
          <p:nvPr/>
        </p:nvSpPr>
        <p:spPr>
          <a:xfrm>
            <a:off x="4818888" y="2770632"/>
            <a:ext cx="6623274" cy="457200"/>
          </a:xfrm>
          <a:prstGeom prst="rect">
            <a:avLst/>
          </a:prstGeom>
          <a:noFill/>
        </p:spPr>
        <p:txBody>
          <a:bodyPr wrap="square" lIns="0" tIns="0" rIns="0" bIns="0" anchor="t">
            <a:noAutofit/>
          </a:bodyPr>
          <a:lstStyle/>
          <a:p>
            <a:pPr algn="l">
              <a:lnSpc>
                <a:spcPct val="126000"/>
              </a:lnSpc>
            </a:pPr>
            <a:r>
              <a:rPr sz="1100" b="0" i="0">
                <a:solidFill>
                  <a:srgbClr val="C4BBAC"/>
                </a:solidFill>
                <a:latin typeface="Segoe UI"/>
              </a:rPr>
              <a:t>On the busiest days all the tickets go, and the site is 40 km east of town. The subway and bus take about two hours each way, so the trip takes half a day.</a:t>
            </a:r>
          </a:p>
        </p:txBody>
      </p:sp>
      <p:sp>
        <p:nvSpPr>
          <p:cNvPr id="16" name="Rectangle 15"/>
          <p:cNvSpPr/>
          <p:nvPr/>
        </p:nvSpPr>
        <p:spPr>
          <a:xfrm>
            <a:off x="749808" y="3264408"/>
            <a:ext cx="10692354" cy="12700"/>
          </a:xfrm>
          <a:prstGeom prst="rect">
            <a:avLst/>
          </a:prstGeom>
          <a:solidFill>
            <a:srgbClr val="424755"/>
          </a:solidFill>
          <a:ln>
            <a:noFill/>
          </a:ln>
          <a:effectLst/>
        </p:spPr>
        <p:txBody>
          <a:bodyPr wrap="square" rtlCol="0" anchor="ctr"/>
          <a:lstStyle/>
          <a:p>
            <a:pPr algn="ctr"/>
            <a:endParaRPr/>
          </a:p>
        </p:txBody>
      </p:sp>
      <p:sp>
        <p:nvSpPr>
          <p:cNvPr id="17" name="Rectangle 16"/>
          <p:cNvSpPr/>
          <p:nvPr/>
        </p:nvSpPr>
        <p:spPr>
          <a:xfrm rot="2700000">
            <a:off x="749808" y="3461004"/>
            <a:ext cx="82296" cy="82296"/>
          </a:xfrm>
          <a:prstGeom prst="rect">
            <a:avLst/>
          </a:prstGeom>
          <a:solidFill>
            <a:srgbClr val="C05C3C"/>
          </a:solidFill>
          <a:ln>
            <a:noFill/>
          </a:ln>
          <a:effectLst/>
        </p:spPr>
        <p:txBody>
          <a:bodyPr wrap="square" rtlCol="0" anchor="ctr"/>
          <a:lstStyle/>
          <a:p>
            <a:pPr algn="ctr"/>
            <a:endParaRPr/>
          </a:p>
        </p:txBody>
      </p:sp>
      <p:sp>
        <p:nvSpPr>
          <p:cNvPr id="18" name="TextBox 17"/>
          <p:cNvSpPr txBox="1"/>
          <p:nvPr/>
        </p:nvSpPr>
        <p:spPr>
          <a:xfrm>
            <a:off x="1133856" y="3410712"/>
            <a:ext cx="3520440" cy="292608"/>
          </a:xfrm>
          <a:prstGeom prst="rect">
            <a:avLst/>
          </a:prstGeom>
          <a:noFill/>
        </p:spPr>
        <p:txBody>
          <a:bodyPr wrap="square" lIns="0" tIns="0" rIns="0" bIns="0" anchor="t">
            <a:noAutofit/>
          </a:bodyPr>
          <a:lstStyle/>
          <a:p>
            <a:pPr algn="l">
              <a:lnSpc>
                <a:spcPct val="105000"/>
              </a:lnSpc>
            </a:pPr>
            <a:r>
              <a:rPr sz="1350" b="1" i="0">
                <a:solidFill>
                  <a:srgbClr val="F7F2E9"/>
                </a:solidFill>
                <a:latin typeface="Georgia"/>
              </a:rPr>
              <a:t>Tickets are not cheap</a:t>
            </a:r>
          </a:p>
        </p:txBody>
      </p:sp>
      <p:sp>
        <p:nvSpPr>
          <p:cNvPr id="19" name="TextBox 18"/>
          <p:cNvSpPr txBox="1"/>
          <p:nvPr/>
        </p:nvSpPr>
        <p:spPr>
          <a:xfrm>
            <a:off x="4818888" y="3429000"/>
            <a:ext cx="6623274" cy="457200"/>
          </a:xfrm>
          <a:prstGeom prst="rect">
            <a:avLst/>
          </a:prstGeom>
          <a:noFill/>
        </p:spPr>
        <p:txBody>
          <a:bodyPr wrap="square" lIns="0" tIns="0" rIns="0" bIns="0" anchor="t">
            <a:noAutofit/>
          </a:bodyPr>
          <a:lstStyle/>
          <a:p>
            <a:pPr algn="l">
              <a:lnSpc>
                <a:spcPct val="126000"/>
              </a:lnSpc>
            </a:pPr>
            <a:r>
              <a:rPr sz="1100" b="0" i="0">
                <a:solidFill>
                  <a:srgbClr val="C4BBAC"/>
                </a:solidFill>
                <a:latin typeface="Segoe UI"/>
              </a:rPr>
              <a:t>¥120 for the army, ¥54 for the wall, ¥45 for a bike: ¥174 before you have eaten anything.</a:t>
            </a:r>
          </a:p>
        </p:txBody>
      </p:sp>
      <p:sp>
        <p:nvSpPr>
          <p:cNvPr id="20" name="Rectangle 19"/>
          <p:cNvSpPr/>
          <p:nvPr/>
        </p:nvSpPr>
        <p:spPr>
          <a:xfrm>
            <a:off x="749808" y="3922776"/>
            <a:ext cx="10692354" cy="12700"/>
          </a:xfrm>
          <a:prstGeom prst="rect">
            <a:avLst/>
          </a:prstGeom>
          <a:solidFill>
            <a:srgbClr val="424755"/>
          </a:solidFill>
          <a:ln>
            <a:noFill/>
          </a:ln>
          <a:effectLst/>
        </p:spPr>
        <p:txBody>
          <a:bodyPr wrap="square" rtlCol="0" anchor="ctr"/>
          <a:lstStyle/>
          <a:p>
            <a:pPr algn="ctr"/>
            <a:endParaRPr/>
          </a:p>
        </p:txBody>
      </p:sp>
      <p:sp>
        <p:nvSpPr>
          <p:cNvPr id="21" name="Rectangle 20"/>
          <p:cNvSpPr/>
          <p:nvPr/>
        </p:nvSpPr>
        <p:spPr>
          <a:xfrm rot="2700000">
            <a:off x="749808" y="4119372"/>
            <a:ext cx="82296" cy="82296"/>
          </a:xfrm>
          <a:prstGeom prst="rect">
            <a:avLst/>
          </a:prstGeom>
          <a:solidFill>
            <a:srgbClr val="C05C3C"/>
          </a:solidFill>
          <a:ln>
            <a:noFill/>
          </a:ln>
          <a:effectLst/>
        </p:spPr>
        <p:txBody>
          <a:bodyPr wrap="square" rtlCol="0" anchor="ctr"/>
          <a:lstStyle/>
          <a:p>
            <a:pPr algn="ctr"/>
            <a:endParaRPr/>
          </a:p>
        </p:txBody>
      </p:sp>
      <p:sp>
        <p:nvSpPr>
          <p:cNvPr id="22" name="TextBox 21"/>
          <p:cNvSpPr txBox="1"/>
          <p:nvPr/>
        </p:nvSpPr>
        <p:spPr>
          <a:xfrm>
            <a:off x="1133856" y="4069080"/>
            <a:ext cx="3520440" cy="292608"/>
          </a:xfrm>
          <a:prstGeom prst="rect">
            <a:avLst/>
          </a:prstGeom>
          <a:noFill/>
        </p:spPr>
        <p:txBody>
          <a:bodyPr wrap="square" lIns="0" tIns="0" rIns="0" bIns="0" anchor="t">
            <a:noAutofit/>
          </a:bodyPr>
          <a:lstStyle/>
          <a:p>
            <a:pPr algn="l">
              <a:lnSpc>
                <a:spcPct val="105000"/>
              </a:lnSpc>
            </a:pPr>
            <a:r>
              <a:rPr sz="1350" b="1" i="0">
                <a:solidFill>
                  <a:srgbClr val="F7F2E9"/>
                </a:solidFill>
                <a:latin typeface="Georgia"/>
              </a:rPr>
              <a:t>Summer is hard</a:t>
            </a:r>
          </a:p>
        </p:txBody>
      </p:sp>
      <p:sp>
        <p:nvSpPr>
          <p:cNvPr id="23" name="TextBox 22"/>
          <p:cNvSpPr txBox="1"/>
          <p:nvPr/>
        </p:nvSpPr>
        <p:spPr>
          <a:xfrm>
            <a:off x="4818888" y="4087368"/>
            <a:ext cx="6623274" cy="457200"/>
          </a:xfrm>
          <a:prstGeom prst="rect">
            <a:avLst/>
          </a:prstGeom>
          <a:noFill/>
        </p:spPr>
        <p:txBody>
          <a:bodyPr wrap="square" lIns="0" tIns="0" rIns="0" bIns="0" anchor="t">
            <a:noAutofit/>
          </a:bodyPr>
          <a:lstStyle/>
          <a:p>
            <a:pPr algn="l">
              <a:lnSpc>
                <a:spcPct val="126000"/>
              </a:lnSpc>
            </a:pPr>
            <a:r>
              <a:rPr sz="1100" b="0" i="0">
                <a:solidFill>
                  <a:srgbClr val="C4BBAC"/>
                </a:solidFill>
                <a:latin typeface="Segoe UI"/>
              </a:rPr>
              <a:t>In July the temperature is about 35 °C in the day, and 33 °C in August. Fog can make the view from the wall less clear.</a:t>
            </a:r>
          </a:p>
        </p:txBody>
      </p:sp>
      <p:sp>
        <p:nvSpPr>
          <p:cNvPr id="24" name="Rectangle 23"/>
          <p:cNvSpPr/>
          <p:nvPr/>
        </p:nvSpPr>
        <p:spPr>
          <a:xfrm>
            <a:off x="749808" y="4581144"/>
            <a:ext cx="10692354" cy="12700"/>
          </a:xfrm>
          <a:prstGeom prst="rect">
            <a:avLst/>
          </a:prstGeom>
          <a:solidFill>
            <a:srgbClr val="424755"/>
          </a:solidFill>
          <a:ln>
            <a:noFill/>
          </a:ln>
          <a:effectLst/>
        </p:spPr>
        <p:txBody>
          <a:bodyPr wrap="square" rtlCol="0" anchor="ctr"/>
          <a:lstStyle/>
          <a:p>
            <a:pPr algn="ctr"/>
            <a:endParaRPr/>
          </a:p>
        </p:txBody>
      </p:sp>
      <p:sp>
        <p:nvSpPr>
          <p:cNvPr id="25" name="Rectangle 24"/>
          <p:cNvSpPr/>
          <p:nvPr/>
        </p:nvSpPr>
        <p:spPr>
          <a:xfrm rot="2700000">
            <a:off x="749808" y="4777740"/>
            <a:ext cx="82296" cy="82296"/>
          </a:xfrm>
          <a:prstGeom prst="rect">
            <a:avLst/>
          </a:prstGeom>
          <a:solidFill>
            <a:srgbClr val="C05C3C"/>
          </a:solidFill>
          <a:ln>
            <a:noFill/>
          </a:ln>
          <a:effectLst/>
        </p:spPr>
        <p:txBody>
          <a:bodyPr wrap="square" rtlCol="0" anchor="ctr"/>
          <a:lstStyle/>
          <a:p>
            <a:pPr algn="ctr"/>
            <a:endParaRPr/>
          </a:p>
        </p:txBody>
      </p:sp>
      <p:sp>
        <p:nvSpPr>
          <p:cNvPr id="26" name="TextBox 25"/>
          <p:cNvSpPr txBox="1"/>
          <p:nvPr/>
        </p:nvSpPr>
        <p:spPr>
          <a:xfrm>
            <a:off x="1133856" y="4727448"/>
            <a:ext cx="3520440" cy="292608"/>
          </a:xfrm>
          <a:prstGeom prst="rect">
            <a:avLst/>
          </a:prstGeom>
          <a:noFill/>
        </p:spPr>
        <p:txBody>
          <a:bodyPr wrap="square" lIns="0" tIns="0" rIns="0" bIns="0" anchor="t">
            <a:noAutofit/>
          </a:bodyPr>
          <a:lstStyle/>
          <a:p>
            <a:pPr algn="l">
              <a:lnSpc>
                <a:spcPct val="105000"/>
              </a:lnSpc>
            </a:pPr>
            <a:r>
              <a:rPr sz="1350" b="1" i="0">
                <a:solidFill>
                  <a:srgbClr val="F7F2E9"/>
                </a:solidFill>
                <a:latin typeface="Georgia"/>
              </a:rPr>
              <a:t>Tourist food is not always good</a:t>
            </a:r>
          </a:p>
        </p:txBody>
      </p:sp>
      <p:sp>
        <p:nvSpPr>
          <p:cNvPr id="27" name="TextBox 26"/>
          <p:cNvSpPr txBox="1"/>
          <p:nvPr/>
        </p:nvSpPr>
        <p:spPr>
          <a:xfrm>
            <a:off x="4818888" y="4745736"/>
            <a:ext cx="6623274" cy="457200"/>
          </a:xfrm>
          <a:prstGeom prst="rect">
            <a:avLst/>
          </a:prstGeom>
          <a:noFill/>
        </p:spPr>
        <p:txBody>
          <a:bodyPr wrap="square" lIns="0" tIns="0" rIns="0" bIns="0" anchor="t">
            <a:noAutofit/>
          </a:bodyPr>
          <a:lstStyle/>
          <a:p>
            <a:pPr algn="l">
              <a:lnSpc>
                <a:spcPct val="126000"/>
              </a:lnSpc>
            </a:pPr>
            <a:r>
              <a:rPr sz="1100" b="0" i="0">
                <a:solidFill>
                  <a:srgbClr val="C4BBAC"/>
                </a:solidFill>
                <a:latin typeface="Segoe UI"/>
              </a:rPr>
              <a:t>The Muslim Quarter is the famous food street, but the prices are high and it is always full of visitors. Local people eat one street further in.</a:t>
            </a:r>
          </a:p>
        </p:txBody>
      </p:sp>
      <p:sp>
        <p:nvSpPr>
          <p:cNvPr id="28" name="Rectangle 27"/>
          <p:cNvSpPr/>
          <p:nvPr/>
        </p:nvSpPr>
        <p:spPr>
          <a:xfrm>
            <a:off x="749808" y="5239512"/>
            <a:ext cx="10692354" cy="12700"/>
          </a:xfrm>
          <a:prstGeom prst="rect">
            <a:avLst/>
          </a:prstGeom>
          <a:solidFill>
            <a:srgbClr val="424755"/>
          </a:solidFill>
          <a:ln>
            <a:noFill/>
          </a:ln>
          <a:effectLst/>
        </p:spPr>
        <p:txBody>
          <a:bodyPr wrap="square" rtlCol="0" anchor="ctr"/>
          <a:lstStyle/>
          <a:p>
            <a:pPr algn="ctr"/>
            <a:endParaRPr/>
          </a:p>
        </p:txBody>
      </p:sp>
      <p:sp>
        <p:nvSpPr>
          <p:cNvPr id="29" name="Rectangle 28"/>
          <p:cNvSpPr/>
          <p:nvPr/>
        </p:nvSpPr>
        <p:spPr>
          <a:xfrm rot="2700000">
            <a:off x="749808" y="5436108"/>
            <a:ext cx="82296" cy="82296"/>
          </a:xfrm>
          <a:prstGeom prst="rect">
            <a:avLst/>
          </a:prstGeom>
          <a:solidFill>
            <a:srgbClr val="C05C3C"/>
          </a:solidFill>
          <a:ln>
            <a:noFill/>
          </a:ln>
          <a:effectLst/>
        </p:spPr>
        <p:txBody>
          <a:bodyPr wrap="square" rtlCol="0" anchor="ctr"/>
          <a:lstStyle/>
          <a:p>
            <a:pPr algn="ctr"/>
            <a:endParaRPr/>
          </a:p>
        </p:txBody>
      </p:sp>
      <p:sp>
        <p:nvSpPr>
          <p:cNvPr id="30" name="TextBox 29"/>
          <p:cNvSpPr txBox="1"/>
          <p:nvPr/>
        </p:nvSpPr>
        <p:spPr>
          <a:xfrm>
            <a:off x="1133856" y="5385816"/>
            <a:ext cx="3520440" cy="292608"/>
          </a:xfrm>
          <a:prstGeom prst="rect">
            <a:avLst/>
          </a:prstGeom>
          <a:noFill/>
        </p:spPr>
        <p:txBody>
          <a:bodyPr wrap="square" lIns="0" tIns="0" rIns="0" bIns="0" anchor="t">
            <a:noAutofit/>
          </a:bodyPr>
          <a:lstStyle/>
          <a:p>
            <a:pPr algn="l">
              <a:lnSpc>
                <a:spcPct val="105000"/>
              </a:lnSpc>
            </a:pPr>
            <a:r>
              <a:rPr sz="1350" b="1" i="0">
                <a:solidFill>
                  <a:srgbClr val="F7F2E9"/>
                </a:solidFill>
                <a:latin typeface="Georgia"/>
              </a:rPr>
              <a:t>Watch out near the site</a:t>
            </a:r>
          </a:p>
        </p:txBody>
      </p:sp>
      <p:sp>
        <p:nvSpPr>
          <p:cNvPr id="31" name="TextBox 30"/>
          <p:cNvSpPr txBox="1"/>
          <p:nvPr/>
        </p:nvSpPr>
        <p:spPr>
          <a:xfrm>
            <a:off x="4818888" y="5404104"/>
            <a:ext cx="6623274" cy="457200"/>
          </a:xfrm>
          <a:prstGeom prst="rect">
            <a:avLst/>
          </a:prstGeom>
          <a:noFill/>
        </p:spPr>
        <p:txBody>
          <a:bodyPr wrap="square" lIns="0" tIns="0" rIns="0" bIns="0" anchor="t">
            <a:noAutofit/>
          </a:bodyPr>
          <a:lstStyle/>
          <a:p>
            <a:pPr algn="l">
              <a:lnSpc>
                <a:spcPct val="126000"/>
              </a:lnSpc>
            </a:pPr>
            <a:r>
              <a:rPr sz="1100" b="0" i="0">
                <a:solidFill>
                  <a:srgbClr val="C4BBAC"/>
                </a:solidFill>
                <a:latin typeface="Segoe UI"/>
              </a:rPr>
              <a:t>Local news has reported guides and drivers taking visitors to fake "underground palace" shows — one family paid ¥564 for ten minutes.</a:t>
            </a:r>
          </a:p>
        </p:txBody>
      </p:sp>
      <p:sp>
        <p:nvSpPr>
          <p:cNvPr id="32" name="Rectangle 31"/>
          <p:cNvSpPr/>
          <p:nvPr/>
        </p:nvSpPr>
        <p:spPr>
          <a:xfrm>
            <a:off x="749808" y="5870448"/>
            <a:ext cx="10692354" cy="12700"/>
          </a:xfrm>
          <a:prstGeom prst="rect">
            <a:avLst/>
          </a:prstGeom>
          <a:solidFill>
            <a:srgbClr val="424755"/>
          </a:solidFill>
          <a:ln>
            <a:noFill/>
          </a:ln>
          <a:effectLst/>
        </p:spPr>
        <p:txBody>
          <a:bodyPr wrap="square" rtlCol="0" anchor="ctr"/>
          <a:lstStyle/>
          <a:p>
            <a:pPr algn="ctr"/>
            <a:endParaRPr/>
          </a:p>
        </p:txBody>
      </p:sp>
      <p:sp>
        <p:nvSpPr>
          <p:cNvPr id="33" name="TextBox 32"/>
          <p:cNvSpPr txBox="1"/>
          <p:nvPr/>
        </p:nvSpPr>
        <p:spPr>
          <a:xfrm>
            <a:off x="749808" y="6455664"/>
            <a:ext cx="7484647" cy="237744"/>
          </a:xfrm>
          <a:prstGeom prst="rect">
            <a:avLst/>
          </a:prstGeom>
          <a:noFill/>
        </p:spPr>
        <p:txBody>
          <a:bodyPr wrap="square" lIns="0" tIns="0" rIns="0" bIns="0" anchor="t">
            <a:noAutofit/>
          </a:bodyPr>
          <a:lstStyle/>
          <a:p>
            <a:pPr algn="l">
              <a:lnSpc>
                <a:spcPct val="100000"/>
              </a:lnSpc>
            </a:pPr>
            <a:r>
              <a:rPr sz="800" b="0" i="0" spc="220">
                <a:solidFill>
                  <a:srgbClr val="96919C"/>
                </a:solidFill>
                <a:latin typeface="Segoe UI"/>
              </a:rPr>
              <a:t>XI'AN  ·  AN INTERESTING PLACE</a:t>
            </a:r>
          </a:p>
        </p:txBody>
      </p:sp>
      <p:sp>
        <p:nvSpPr>
          <p:cNvPr id="34" name="TextBox 33"/>
          <p:cNvSpPr txBox="1"/>
          <p:nvPr/>
        </p:nvSpPr>
        <p:spPr>
          <a:xfrm>
            <a:off x="10344882" y="6441948"/>
            <a:ext cx="1097280" cy="256032"/>
          </a:xfrm>
          <a:prstGeom prst="rect">
            <a:avLst/>
          </a:prstGeom>
          <a:noFill/>
        </p:spPr>
        <p:txBody>
          <a:bodyPr wrap="square" lIns="0" tIns="0" rIns="0" bIns="0" anchor="t">
            <a:noAutofit/>
          </a:bodyPr>
          <a:lstStyle/>
          <a:p>
            <a:pPr algn="r">
              <a:lnSpc>
                <a:spcPct val="100000"/>
              </a:lnSpc>
            </a:pPr>
            <a:r>
              <a:rPr sz="1000" b="1" i="0">
                <a:solidFill>
                  <a:srgbClr val="C79A45"/>
                </a:solidFill>
                <a:latin typeface="Georgia"/>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ink.jpg"/>
          <p:cNvPicPr>
            <a:picLocks noChangeAspect="1"/>
          </p:cNvPicPr>
          <p:nvPr/>
        </p:nvPicPr>
        <p:blipFill>
          <a:blip r:embed="rId2"/>
          <a:stretch>
            <a:fillRect/>
          </a:stretch>
        </p:blipFill>
        <p:spPr>
          <a:xfrm>
            <a:off x="0" y="0"/>
            <a:ext cx="12191970" cy="6858000"/>
          </a:xfrm>
          <a:prstGeom prst="rect">
            <a:avLst/>
          </a:prstGeom>
        </p:spPr>
      </p:pic>
      <p:sp>
        <p:nvSpPr>
          <p:cNvPr id="3" name="Rectangle 2"/>
          <p:cNvSpPr/>
          <p:nvPr/>
        </p:nvSpPr>
        <p:spPr>
          <a:xfrm>
            <a:off x="749808" y="617220"/>
            <a:ext cx="274320" cy="32004"/>
          </a:xfrm>
          <a:prstGeom prst="rect">
            <a:avLst/>
          </a:prstGeom>
          <a:solidFill>
            <a:srgbClr val="C79A45"/>
          </a:solidFill>
          <a:ln>
            <a:noFill/>
          </a:ln>
          <a:effectLst/>
        </p:spPr>
        <p:txBody>
          <a:bodyPr wrap="square" rtlCol="0" anchor="ctr"/>
          <a:lstStyle/>
          <a:p>
            <a:pPr algn="ctr"/>
            <a:endParaRPr/>
          </a:p>
        </p:txBody>
      </p:sp>
      <p:sp>
        <p:nvSpPr>
          <p:cNvPr id="4" name="TextBox 3"/>
          <p:cNvSpPr txBox="1"/>
          <p:nvPr/>
        </p:nvSpPr>
        <p:spPr>
          <a:xfrm>
            <a:off x="1152144" y="516636"/>
            <a:ext cx="10290018" cy="310896"/>
          </a:xfrm>
          <a:prstGeom prst="rect">
            <a:avLst/>
          </a:prstGeom>
          <a:noFill/>
        </p:spPr>
        <p:txBody>
          <a:bodyPr wrap="square" lIns="0" tIns="0" rIns="0" bIns="0" anchor="t">
            <a:noAutofit/>
          </a:bodyPr>
          <a:lstStyle/>
          <a:p>
            <a:pPr algn="l">
              <a:lnSpc>
                <a:spcPct val="100000"/>
              </a:lnSpc>
            </a:pPr>
            <a:r>
              <a:rPr sz="1050" b="0" i="0" spc="260">
                <a:solidFill>
                  <a:srgbClr val="C79A45"/>
                </a:solidFill>
                <a:latin typeface="Segoe UI Semibold"/>
              </a:rPr>
              <a:t>05  ·  SUMMARY</a:t>
            </a:r>
          </a:p>
        </p:txBody>
      </p:sp>
      <p:sp>
        <p:nvSpPr>
          <p:cNvPr id="5" name="TextBox 4"/>
          <p:cNvSpPr txBox="1"/>
          <p:nvPr/>
        </p:nvSpPr>
        <p:spPr>
          <a:xfrm>
            <a:off x="749808" y="1133856"/>
            <a:ext cx="10058400" cy="914400"/>
          </a:xfrm>
          <a:prstGeom prst="rect">
            <a:avLst/>
          </a:prstGeom>
          <a:noFill/>
        </p:spPr>
        <p:txBody>
          <a:bodyPr wrap="square" lIns="0" tIns="0" rIns="0" bIns="0" anchor="t">
            <a:noAutofit/>
          </a:bodyPr>
          <a:lstStyle/>
          <a:p>
            <a:pPr algn="l">
              <a:lnSpc>
                <a:spcPct val="100000"/>
              </a:lnSpc>
            </a:pPr>
            <a:r>
              <a:rPr sz="5200" b="1" i="0">
                <a:solidFill>
                  <a:srgbClr val="F7F2E9"/>
                </a:solidFill>
                <a:latin typeface="Georgia"/>
              </a:rPr>
              <a:t>Go — but go smart.</a:t>
            </a:r>
          </a:p>
        </p:txBody>
      </p:sp>
      <p:sp>
        <p:nvSpPr>
          <p:cNvPr id="6" name="Rectangle 5"/>
          <p:cNvSpPr/>
          <p:nvPr/>
        </p:nvSpPr>
        <p:spPr>
          <a:xfrm>
            <a:off x="749808" y="2231136"/>
            <a:ext cx="1691640" cy="22860"/>
          </a:xfrm>
          <a:prstGeom prst="rect">
            <a:avLst/>
          </a:prstGeom>
          <a:solidFill>
            <a:srgbClr val="C79A45"/>
          </a:solidFill>
          <a:ln>
            <a:noFill/>
          </a:ln>
          <a:effectLst/>
        </p:spPr>
        <p:txBody>
          <a:bodyPr wrap="square" rtlCol="0" anchor="ctr"/>
          <a:lstStyle/>
          <a:p>
            <a:pPr algn="ctr"/>
            <a:endParaRPr/>
          </a:p>
        </p:txBody>
      </p:sp>
      <p:sp>
        <p:nvSpPr>
          <p:cNvPr id="7" name="TextBox 6"/>
          <p:cNvSpPr txBox="1"/>
          <p:nvPr/>
        </p:nvSpPr>
        <p:spPr>
          <a:xfrm>
            <a:off x="749808" y="2523744"/>
            <a:ext cx="5532120" cy="2651760"/>
          </a:xfrm>
          <a:prstGeom prst="rect">
            <a:avLst/>
          </a:prstGeom>
          <a:noFill/>
        </p:spPr>
        <p:txBody>
          <a:bodyPr wrap="square" lIns="0" tIns="0" rIns="0" bIns="0" anchor="t">
            <a:noAutofit/>
          </a:bodyPr>
          <a:lstStyle/>
          <a:p>
            <a:pPr algn="l">
              <a:lnSpc>
                <a:spcPct val="142000"/>
              </a:lnSpc>
            </a:pPr>
            <a:r>
              <a:rPr sz="1300" b="0" i="0">
                <a:solidFill>
                  <a:srgbClr val="E8DECD"/>
                </a:solidFill>
                <a:latin typeface="Segoe UI"/>
              </a:rPr>
              <a:t>Xi'an is not a relaxing city, and it is not a hidden one. But nowhere else gives you three thousand years in a single weekend: an emperor's army, a wall you can cycle, and the food that other Chinese cities try to match.</a:t>
            </a:r>
          </a:p>
          <a:p>
            <a:pPr algn="l">
              <a:lnSpc>
                <a:spcPct val="142000"/>
              </a:lnSpc>
              <a:spcBef>
                <a:spcPts val="1400"/>
              </a:spcBef>
            </a:pPr>
            <a:r>
              <a:rPr sz="1300" b="0" i="0">
                <a:solidFill>
                  <a:srgbClr val="E0C07A"/>
                </a:solidFill>
                <a:latin typeface="Segoe UI"/>
              </a:rPr>
              <a:t>The good parts win easily. Just do not go in July, and do not arrive without a booking.</a:t>
            </a:r>
          </a:p>
        </p:txBody>
      </p:sp>
      <p:sp>
        <p:nvSpPr>
          <p:cNvPr id="8" name="Rounded Rectangle 7"/>
          <p:cNvSpPr/>
          <p:nvPr/>
        </p:nvSpPr>
        <p:spPr>
          <a:xfrm>
            <a:off x="6675120" y="2432304"/>
            <a:ext cx="4764024" cy="3054096"/>
          </a:xfrm>
          <a:prstGeom prst="roundRect">
            <a:avLst>
              <a:gd name="adj" fmla="val 5500"/>
            </a:avLst>
          </a:prstGeom>
          <a:solidFill>
            <a:srgbClr val="20232E"/>
          </a:solidFill>
          <a:ln w="11430">
            <a:solidFill>
              <a:srgbClr val="3E4352"/>
            </a:solidFill>
          </a:ln>
          <a:effectLst/>
        </p:spPr>
        <p:txBody>
          <a:bodyPr wrap="square" rtlCol="0" anchor="ctr"/>
          <a:lstStyle/>
          <a:p>
            <a:pPr algn="ctr"/>
            <a:endParaRPr/>
          </a:p>
        </p:txBody>
      </p:sp>
      <p:sp>
        <p:nvSpPr>
          <p:cNvPr id="9" name="TextBox 8"/>
          <p:cNvSpPr txBox="1"/>
          <p:nvPr/>
        </p:nvSpPr>
        <p:spPr>
          <a:xfrm>
            <a:off x="6986016" y="2651760"/>
            <a:ext cx="4142232" cy="256032"/>
          </a:xfrm>
          <a:prstGeom prst="rect">
            <a:avLst/>
          </a:prstGeom>
          <a:noFill/>
        </p:spPr>
        <p:txBody>
          <a:bodyPr wrap="square" lIns="0" tIns="0" rIns="0" bIns="0" anchor="t">
            <a:noAutofit/>
          </a:bodyPr>
          <a:lstStyle/>
          <a:p>
            <a:pPr algn="l">
              <a:lnSpc>
                <a:spcPct val="100000"/>
              </a:lnSpc>
            </a:pPr>
            <a:r>
              <a:rPr sz="900" b="0" i="0" spc="240">
                <a:solidFill>
                  <a:srgbClr val="C79A45"/>
                </a:solidFill>
                <a:latin typeface="Segoe UI Semibold"/>
              </a:rPr>
              <a:t>IF YOU GO</a:t>
            </a:r>
          </a:p>
        </p:txBody>
      </p:sp>
      <p:pic>
        <p:nvPicPr>
          <p:cNvPr id="10" name="Picture 9" descr="glyph_belltower_gold.png"/>
          <p:cNvPicPr>
            <a:picLocks noChangeAspect="1"/>
          </p:cNvPicPr>
          <p:nvPr/>
        </p:nvPicPr>
        <p:blipFill>
          <a:blip r:embed="rId3"/>
          <a:stretch>
            <a:fillRect/>
          </a:stretch>
        </p:blipFill>
        <p:spPr>
          <a:xfrm>
            <a:off x="10725912" y="2596896"/>
            <a:ext cx="402336" cy="402336"/>
          </a:xfrm>
          <a:prstGeom prst="rect">
            <a:avLst/>
          </a:prstGeom>
        </p:spPr>
      </p:pic>
      <p:sp>
        <p:nvSpPr>
          <p:cNvPr id="11" name="TextBox 10"/>
          <p:cNvSpPr txBox="1"/>
          <p:nvPr/>
        </p:nvSpPr>
        <p:spPr>
          <a:xfrm>
            <a:off x="6986016" y="2980944"/>
            <a:ext cx="1298448" cy="237744"/>
          </a:xfrm>
          <a:prstGeom prst="rect">
            <a:avLst/>
          </a:prstGeom>
          <a:noFill/>
        </p:spPr>
        <p:txBody>
          <a:bodyPr wrap="square" lIns="0" tIns="0" rIns="0" bIns="0" anchor="t">
            <a:noAutofit/>
          </a:bodyPr>
          <a:lstStyle/>
          <a:p>
            <a:pPr algn="l">
              <a:lnSpc>
                <a:spcPct val="100000"/>
              </a:lnSpc>
            </a:pPr>
            <a:r>
              <a:rPr sz="850" b="0" i="0" spc="160">
                <a:solidFill>
                  <a:srgbClr val="DFB79F"/>
                </a:solidFill>
                <a:latin typeface="Segoe UI Semibold"/>
              </a:rPr>
              <a:t>BEST TIME</a:t>
            </a:r>
          </a:p>
        </p:txBody>
      </p:sp>
      <p:sp>
        <p:nvSpPr>
          <p:cNvPr id="12" name="TextBox 11"/>
          <p:cNvSpPr txBox="1"/>
          <p:nvPr/>
        </p:nvSpPr>
        <p:spPr>
          <a:xfrm>
            <a:off x="6986016" y="3209544"/>
            <a:ext cx="3611880" cy="310896"/>
          </a:xfrm>
          <a:prstGeom prst="rect">
            <a:avLst/>
          </a:prstGeom>
          <a:noFill/>
        </p:spPr>
        <p:txBody>
          <a:bodyPr wrap="square" lIns="0" tIns="0" rIns="0" bIns="0" anchor="t">
            <a:noAutofit/>
          </a:bodyPr>
          <a:lstStyle/>
          <a:p>
            <a:pPr algn="l">
              <a:lnSpc>
                <a:spcPct val="124000"/>
              </a:lnSpc>
            </a:pPr>
            <a:r>
              <a:rPr sz="1100" b="0" i="0">
                <a:solidFill>
                  <a:srgbClr val="CEC7BB"/>
                </a:solidFill>
                <a:latin typeface="Segoe UI"/>
              </a:rPr>
              <a:t>April to May, or September to October.</a:t>
            </a:r>
          </a:p>
        </p:txBody>
      </p:sp>
      <p:sp>
        <p:nvSpPr>
          <p:cNvPr id="13" name="TextBox 12"/>
          <p:cNvSpPr txBox="1"/>
          <p:nvPr/>
        </p:nvSpPr>
        <p:spPr>
          <a:xfrm>
            <a:off x="6986016" y="3602736"/>
            <a:ext cx="1298448" cy="237744"/>
          </a:xfrm>
          <a:prstGeom prst="rect">
            <a:avLst/>
          </a:prstGeom>
          <a:noFill/>
        </p:spPr>
        <p:txBody>
          <a:bodyPr wrap="square" lIns="0" tIns="0" rIns="0" bIns="0" anchor="t">
            <a:noAutofit/>
          </a:bodyPr>
          <a:lstStyle/>
          <a:p>
            <a:pPr algn="l">
              <a:lnSpc>
                <a:spcPct val="100000"/>
              </a:lnSpc>
            </a:pPr>
            <a:r>
              <a:rPr sz="850" b="0" i="0" spc="160">
                <a:solidFill>
                  <a:srgbClr val="DFB79F"/>
                </a:solidFill>
                <a:latin typeface="Segoe UI Semibold"/>
              </a:rPr>
              <a:t>HOW LONG</a:t>
            </a:r>
          </a:p>
        </p:txBody>
      </p:sp>
      <p:sp>
        <p:nvSpPr>
          <p:cNvPr id="14" name="TextBox 13"/>
          <p:cNvSpPr txBox="1"/>
          <p:nvPr/>
        </p:nvSpPr>
        <p:spPr>
          <a:xfrm>
            <a:off x="6986016" y="3831336"/>
            <a:ext cx="3611880" cy="310896"/>
          </a:xfrm>
          <a:prstGeom prst="rect">
            <a:avLst/>
          </a:prstGeom>
          <a:noFill/>
        </p:spPr>
        <p:txBody>
          <a:bodyPr wrap="square" lIns="0" tIns="0" rIns="0" bIns="0" anchor="t">
            <a:noAutofit/>
          </a:bodyPr>
          <a:lstStyle/>
          <a:p>
            <a:pPr algn="l">
              <a:lnSpc>
                <a:spcPct val="124000"/>
              </a:lnSpc>
            </a:pPr>
            <a:r>
              <a:rPr sz="1100" b="0" i="0">
                <a:solidFill>
                  <a:srgbClr val="CEC7BB"/>
                </a:solidFill>
                <a:latin typeface="Segoe UI"/>
              </a:rPr>
              <a:t>Three to four days; the army takes a full day.</a:t>
            </a:r>
          </a:p>
        </p:txBody>
      </p:sp>
      <p:sp>
        <p:nvSpPr>
          <p:cNvPr id="15" name="TextBox 14"/>
          <p:cNvSpPr txBox="1"/>
          <p:nvPr/>
        </p:nvSpPr>
        <p:spPr>
          <a:xfrm>
            <a:off x="6986016" y="4224528"/>
            <a:ext cx="1298448" cy="237744"/>
          </a:xfrm>
          <a:prstGeom prst="rect">
            <a:avLst/>
          </a:prstGeom>
          <a:noFill/>
        </p:spPr>
        <p:txBody>
          <a:bodyPr wrap="square" lIns="0" tIns="0" rIns="0" bIns="0" anchor="t">
            <a:noAutofit/>
          </a:bodyPr>
          <a:lstStyle/>
          <a:p>
            <a:pPr algn="l">
              <a:lnSpc>
                <a:spcPct val="100000"/>
              </a:lnSpc>
            </a:pPr>
            <a:r>
              <a:rPr sz="850" b="0" i="0" spc="160">
                <a:solidFill>
                  <a:srgbClr val="DFB79F"/>
                </a:solidFill>
                <a:latin typeface="Segoe UI Semibold"/>
              </a:rPr>
              <a:t>WHERE TO STAY</a:t>
            </a:r>
          </a:p>
        </p:txBody>
      </p:sp>
      <p:sp>
        <p:nvSpPr>
          <p:cNvPr id="16" name="TextBox 15"/>
          <p:cNvSpPr txBox="1"/>
          <p:nvPr/>
        </p:nvSpPr>
        <p:spPr>
          <a:xfrm>
            <a:off x="6986016" y="4453128"/>
            <a:ext cx="3611880" cy="310896"/>
          </a:xfrm>
          <a:prstGeom prst="rect">
            <a:avLst/>
          </a:prstGeom>
          <a:noFill/>
        </p:spPr>
        <p:txBody>
          <a:bodyPr wrap="square" lIns="0" tIns="0" rIns="0" bIns="0" anchor="t">
            <a:noAutofit/>
          </a:bodyPr>
          <a:lstStyle/>
          <a:p>
            <a:pPr algn="l">
              <a:lnSpc>
                <a:spcPct val="124000"/>
              </a:lnSpc>
            </a:pPr>
            <a:r>
              <a:rPr sz="1100" b="0" i="0">
                <a:solidFill>
                  <a:srgbClr val="CEC7BB"/>
                </a:solidFill>
                <a:latin typeface="Segoe UI"/>
              </a:rPr>
              <a:t>Inside the city wall, near the Bell Tower.</a:t>
            </a:r>
          </a:p>
        </p:txBody>
      </p:sp>
      <p:sp>
        <p:nvSpPr>
          <p:cNvPr id="17" name="TextBox 16"/>
          <p:cNvSpPr txBox="1"/>
          <p:nvPr/>
        </p:nvSpPr>
        <p:spPr>
          <a:xfrm>
            <a:off x="6986016" y="4846320"/>
            <a:ext cx="1298448" cy="237744"/>
          </a:xfrm>
          <a:prstGeom prst="rect">
            <a:avLst/>
          </a:prstGeom>
          <a:noFill/>
        </p:spPr>
        <p:txBody>
          <a:bodyPr wrap="square" lIns="0" tIns="0" rIns="0" bIns="0" anchor="t">
            <a:noAutofit/>
          </a:bodyPr>
          <a:lstStyle/>
          <a:p>
            <a:pPr algn="l">
              <a:lnSpc>
                <a:spcPct val="100000"/>
              </a:lnSpc>
            </a:pPr>
            <a:r>
              <a:rPr sz="850" b="0" i="0" spc="160">
                <a:solidFill>
                  <a:srgbClr val="DFB79F"/>
                </a:solidFill>
                <a:latin typeface="Segoe UI Semibold"/>
              </a:rPr>
              <a:t>BOOK AHEAD</a:t>
            </a:r>
          </a:p>
        </p:txBody>
      </p:sp>
      <p:sp>
        <p:nvSpPr>
          <p:cNvPr id="18" name="TextBox 17"/>
          <p:cNvSpPr txBox="1"/>
          <p:nvPr/>
        </p:nvSpPr>
        <p:spPr>
          <a:xfrm>
            <a:off x="6986016" y="5074920"/>
            <a:ext cx="3611880" cy="310896"/>
          </a:xfrm>
          <a:prstGeom prst="rect">
            <a:avLst/>
          </a:prstGeom>
          <a:noFill/>
        </p:spPr>
        <p:txBody>
          <a:bodyPr wrap="square" lIns="0" tIns="0" rIns="0" bIns="0" anchor="t">
            <a:noAutofit/>
          </a:bodyPr>
          <a:lstStyle/>
          <a:p>
            <a:pPr algn="l">
              <a:lnSpc>
                <a:spcPct val="124000"/>
              </a:lnSpc>
            </a:pPr>
            <a:r>
              <a:rPr sz="1100" b="0" i="0">
                <a:solidFill>
                  <a:srgbClr val="CEC7BB"/>
                </a:solidFill>
                <a:latin typeface="Segoe UI"/>
              </a:rPr>
              <a:t>Book the army and the museum online.</a:t>
            </a:r>
          </a:p>
        </p:txBody>
      </p:sp>
      <p:sp>
        <p:nvSpPr>
          <p:cNvPr id="19" name="Rectangle 18"/>
          <p:cNvSpPr/>
          <p:nvPr/>
        </p:nvSpPr>
        <p:spPr>
          <a:xfrm>
            <a:off x="749808" y="5742432"/>
            <a:ext cx="10692354" cy="12700"/>
          </a:xfrm>
          <a:prstGeom prst="rect">
            <a:avLst/>
          </a:prstGeom>
          <a:solidFill>
            <a:srgbClr val="3A3E4C"/>
          </a:solidFill>
          <a:ln>
            <a:noFill/>
          </a:ln>
          <a:effectLst/>
        </p:spPr>
        <p:txBody>
          <a:bodyPr wrap="square" rtlCol="0" anchor="ctr"/>
          <a:lstStyle/>
          <a:p>
            <a:pPr algn="ctr"/>
            <a:endParaRPr/>
          </a:p>
        </p:txBody>
      </p:sp>
      <p:sp>
        <p:nvSpPr>
          <p:cNvPr id="20" name="TextBox 19"/>
          <p:cNvSpPr txBox="1"/>
          <p:nvPr/>
        </p:nvSpPr>
        <p:spPr>
          <a:xfrm>
            <a:off x="749808" y="5907024"/>
            <a:ext cx="10692354" cy="310896"/>
          </a:xfrm>
          <a:prstGeom prst="rect">
            <a:avLst/>
          </a:prstGeom>
          <a:noFill/>
        </p:spPr>
        <p:txBody>
          <a:bodyPr wrap="square" lIns="0" tIns="0" rIns="0" bIns="0" anchor="t">
            <a:noAutofit/>
          </a:bodyPr>
          <a:lstStyle/>
          <a:p>
            <a:pPr algn="l">
              <a:lnSpc>
                <a:spcPct val="120000"/>
              </a:lnSpc>
            </a:pPr>
            <a:r>
              <a:rPr sz="1250" b="0" i="0">
                <a:solidFill>
                  <a:srgbClr val="96919C"/>
                </a:solidFill>
                <a:latin typeface="Segoe UI"/>
              </a:rPr>
              <a:t>One-line answer:  </a:t>
            </a:r>
            <a:r>
              <a:rPr sz="1300" b="1" i="0">
                <a:solidFill>
                  <a:srgbClr val="F7F2E9"/>
                </a:solidFill>
                <a:latin typeface="Georgia"/>
              </a:rPr>
              <a:t>yes — go in the right season, and book before you fly.</a:t>
            </a:r>
          </a:p>
        </p:txBody>
      </p:sp>
      <p:sp>
        <p:nvSpPr>
          <p:cNvPr id="21" name="TextBox 20"/>
          <p:cNvSpPr txBox="1"/>
          <p:nvPr/>
        </p:nvSpPr>
        <p:spPr>
          <a:xfrm>
            <a:off x="749808" y="6455664"/>
            <a:ext cx="7484647" cy="237744"/>
          </a:xfrm>
          <a:prstGeom prst="rect">
            <a:avLst/>
          </a:prstGeom>
          <a:noFill/>
        </p:spPr>
        <p:txBody>
          <a:bodyPr wrap="square" lIns="0" tIns="0" rIns="0" bIns="0" anchor="t">
            <a:noAutofit/>
          </a:bodyPr>
          <a:lstStyle/>
          <a:p>
            <a:pPr algn="l">
              <a:lnSpc>
                <a:spcPct val="100000"/>
              </a:lnSpc>
            </a:pPr>
            <a:r>
              <a:rPr sz="800" b="0" i="0" spc="220">
                <a:solidFill>
                  <a:srgbClr val="96919C"/>
                </a:solidFill>
                <a:latin typeface="Segoe UI"/>
              </a:rPr>
              <a:t>XI'AN  ·  AN INTERESTING PLACE</a:t>
            </a:r>
          </a:p>
        </p:txBody>
      </p:sp>
      <p:sp>
        <p:nvSpPr>
          <p:cNvPr id="22" name="TextBox 21"/>
          <p:cNvSpPr txBox="1"/>
          <p:nvPr/>
        </p:nvSpPr>
        <p:spPr>
          <a:xfrm>
            <a:off x="10344882" y="6441948"/>
            <a:ext cx="1097280" cy="256032"/>
          </a:xfrm>
          <a:prstGeom prst="rect">
            <a:avLst/>
          </a:prstGeom>
          <a:noFill/>
        </p:spPr>
        <p:txBody>
          <a:bodyPr wrap="square" lIns="0" tIns="0" rIns="0" bIns="0" anchor="t">
            <a:noAutofit/>
          </a:bodyPr>
          <a:lstStyle/>
          <a:p>
            <a:pPr algn="r">
              <a:lnSpc>
                <a:spcPct val="100000"/>
              </a:lnSpc>
            </a:pPr>
            <a:r>
              <a:rPr sz="1000" b="1" i="0">
                <a:solidFill>
                  <a:srgbClr val="C79A45"/>
                </a:solidFill>
                <a:latin typeface="Georgia"/>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ink_gold.jpg"/>
          <p:cNvPicPr>
            <a:picLocks noChangeAspect="1"/>
          </p:cNvPicPr>
          <p:nvPr/>
        </p:nvPicPr>
        <p:blipFill>
          <a:blip r:embed="rId2"/>
          <a:stretch>
            <a:fillRect/>
          </a:stretch>
        </p:blipFill>
        <p:spPr>
          <a:xfrm>
            <a:off x="0" y="0"/>
            <a:ext cx="12191970" cy="6858000"/>
          </a:xfrm>
          <a:prstGeom prst="rect">
            <a:avLst/>
          </a:prstGeom>
        </p:spPr>
      </p:pic>
      <p:sp>
        <p:nvSpPr>
          <p:cNvPr id="3" name="Rectangle 2"/>
          <p:cNvSpPr/>
          <p:nvPr/>
        </p:nvSpPr>
        <p:spPr>
          <a:xfrm>
            <a:off x="384048" y="0"/>
            <a:ext cx="12700" cy="6858000"/>
          </a:xfrm>
          <a:prstGeom prst="rect">
            <a:avLst/>
          </a:prstGeom>
          <a:solidFill>
            <a:srgbClr val="3A322C"/>
          </a:solidFill>
          <a:ln>
            <a:noFill/>
          </a:ln>
          <a:effectLst/>
        </p:spPr>
        <p:txBody>
          <a:bodyPr wrap="square" rtlCol="0" anchor="ctr"/>
          <a:lstStyle/>
          <a:p>
            <a:pPr algn="ctr"/>
            <a:endParaRPr/>
          </a:p>
        </p:txBody>
      </p:sp>
      <p:sp>
        <p:nvSpPr>
          <p:cNvPr id="4" name="TextBox 3"/>
          <p:cNvSpPr txBox="1"/>
          <p:nvPr/>
        </p:nvSpPr>
        <p:spPr>
          <a:xfrm>
            <a:off x="0" y="1572768"/>
            <a:ext cx="12191970" cy="731520"/>
          </a:xfrm>
          <a:prstGeom prst="rect">
            <a:avLst/>
          </a:prstGeom>
          <a:noFill/>
        </p:spPr>
        <p:txBody>
          <a:bodyPr wrap="square" lIns="0" tIns="0" rIns="0" bIns="0" anchor="t">
            <a:noAutofit/>
          </a:bodyPr>
          <a:lstStyle/>
          <a:p>
            <a:pPr algn="ctr">
              <a:lnSpc>
                <a:spcPct val="100000"/>
              </a:lnSpc>
            </a:pPr>
            <a:endParaRPr sz="4000" b="0" i="0" dirty="0">
              <a:solidFill>
                <a:srgbClr val="C79A45"/>
              </a:solidFill>
              <a:latin typeface="Microsoft YaHei"/>
              <a:ea typeface="Microsoft YaHei"/>
              <a:cs typeface="Microsoft YaHei"/>
            </a:endParaRPr>
          </a:p>
        </p:txBody>
      </p:sp>
      <p:sp>
        <p:nvSpPr>
          <p:cNvPr id="5" name="TextBox 4"/>
          <p:cNvSpPr txBox="1"/>
          <p:nvPr/>
        </p:nvSpPr>
        <p:spPr>
          <a:xfrm>
            <a:off x="0" y="2395728"/>
            <a:ext cx="12191970" cy="1097280"/>
          </a:xfrm>
          <a:prstGeom prst="rect">
            <a:avLst/>
          </a:prstGeom>
          <a:noFill/>
        </p:spPr>
        <p:txBody>
          <a:bodyPr wrap="square" lIns="0" tIns="0" rIns="0" bIns="0" anchor="t">
            <a:noAutofit/>
          </a:bodyPr>
          <a:lstStyle/>
          <a:p>
            <a:pPr algn="ctr">
              <a:lnSpc>
                <a:spcPct val="100000"/>
              </a:lnSpc>
            </a:pPr>
            <a:r>
              <a:rPr sz="6800" b="1" i="0">
                <a:solidFill>
                  <a:srgbClr val="F7F2E9"/>
                </a:solidFill>
                <a:latin typeface="Georgia"/>
              </a:rPr>
              <a:t>Thank you</a:t>
            </a:r>
          </a:p>
        </p:txBody>
      </p:sp>
      <p:sp>
        <p:nvSpPr>
          <p:cNvPr id="6" name="Rectangle 5"/>
          <p:cNvSpPr/>
          <p:nvPr/>
        </p:nvSpPr>
        <p:spPr>
          <a:xfrm>
            <a:off x="5410185" y="3712464"/>
            <a:ext cx="1371600" cy="20320"/>
          </a:xfrm>
          <a:prstGeom prst="rect">
            <a:avLst/>
          </a:prstGeom>
          <a:solidFill>
            <a:srgbClr val="C79A45"/>
          </a:solidFill>
          <a:ln>
            <a:noFill/>
          </a:ln>
          <a:effectLst/>
        </p:spPr>
        <p:txBody>
          <a:bodyPr wrap="square" rtlCol="0" anchor="ctr"/>
          <a:lstStyle/>
          <a:p>
            <a:pPr algn="ctr"/>
            <a:endParaRPr/>
          </a:p>
        </p:txBody>
      </p:sp>
      <p:sp>
        <p:nvSpPr>
          <p:cNvPr id="7" name="TextBox 6"/>
          <p:cNvSpPr txBox="1"/>
          <p:nvPr/>
        </p:nvSpPr>
        <p:spPr>
          <a:xfrm>
            <a:off x="0" y="3931920"/>
            <a:ext cx="12191970" cy="457200"/>
          </a:xfrm>
          <a:prstGeom prst="rect">
            <a:avLst/>
          </a:prstGeom>
          <a:noFill/>
        </p:spPr>
        <p:txBody>
          <a:bodyPr wrap="square" lIns="0" tIns="0" rIns="0" bIns="0" anchor="t">
            <a:noAutofit/>
          </a:bodyPr>
          <a:lstStyle/>
          <a:p>
            <a:pPr algn="ctr">
              <a:lnSpc>
                <a:spcPct val="100000"/>
              </a:lnSpc>
            </a:pPr>
            <a:r>
              <a:rPr sz="1700" b="0" i="0">
                <a:solidFill>
                  <a:srgbClr val="E8DECD"/>
                </a:solidFill>
                <a:latin typeface="Segoe UI"/>
              </a:rPr>
              <a:t>Questions?</a:t>
            </a:r>
          </a:p>
        </p:txBody>
      </p:sp>
      <p:sp>
        <p:nvSpPr>
          <p:cNvPr id="8" name="TextBox 7"/>
          <p:cNvSpPr txBox="1"/>
          <p:nvPr/>
        </p:nvSpPr>
        <p:spPr>
          <a:xfrm>
            <a:off x="0" y="4864608"/>
            <a:ext cx="12191970" cy="329184"/>
          </a:xfrm>
          <a:prstGeom prst="rect">
            <a:avLst/>
          </a:prstGeom>
          <a:noFill/>
        </p:spPr>
        <p:txBody>
          <a:bodyPr wrap="square" lIns="0" tIns="0" rIns="0" bIns="0" anchor="t">
            <a:noAutofit/>
          </a:bodyPr>
          <a:lstStyle/>
          <a:p>
            <a:pPr algn="ctr">
              <a:lnSpc>
                <a:spcPct val="100000"/>
              </a:lnSpc>
            </a:pPr>
            <a:r>
              <a:rPr sz="1100" b="0" i="0" spc="240">
                <a:solidFill>
                  <a:srgbClr val="96919C"/>
                </a:solidFill>
                <a:latin typeface="Segoe UI"/>
                <a:ea typeface="Microsoft YaHei"/>
                <a:cs typeface="Microsoft YaHei"/>
              </a:rPr>
              <a:t>Xi'an  ·  西安  ·  Shaanxi, China</a:t>
            </a:r>
          </a:p>
        </p:txBody>
      </p:sp>
      <p:sp>
        <p:nvSpPr>
          <p:cNvPr id="9" name="TextBox 8"/>
          <p:cNvSpPr txBox="1"/>
          <p:nvPr/>
        </p:nvSpPr>
        <p:spPr>
          <a:xfrm>
            <a:off x="0" y="5870448"/>
            <a:ext cx="12191970" cy="274320"/>
          </a:xfrm>
          <a:prstGeom prst="rect">
            <a:avLst/>
          </a:prstGeom>
          <a:noFill/>
        </p:spPr>
        <p:txBody>
          <a:bodyPr wrap="square" lIns="0" tIns="0" rIns="0" bIns="0" anchor="t">
            <a:noAutofit/>
          </a:bodyPr>
          <a:lstStyle/>
          <a:p>
            <a:pPr algn="ctr">
              <a:lnSpc>
                <a:spcPct val="100000"/>
              </a:lnSpc>
            </a:pPr>
            <a:r>
              <a:rPr sz="1000" b="1" i="0" spc="180">
                <a:solidFill>
                  <a:srgbClr val="C79A45"/>
                </a:solidFill>
                <a:latin typeface="Georgia"/>
              </a:rPr>
              <a:t>01  </a:t>
            </a:r>
            <a:r>
              <a:rPr sz="850" b="0" i="0" spc="180">
                <a:solidFill>
                  <a:srgbClr val="96919C"/>
                </a:solidFill>
                <a:latin typeface="Segoe UI"/>
              </a:rPr>
              <a:t>INTRODUCTION</a:t>
            </a:r>
            <a:r>
              <a:rPr sz="850" b="0" i="0" spc="180">
                <a:solidFill>
                  <a:srgbClr val="C79A45"/>
                </a:solidFill>
                <a:latin typeface="Segoe UI"/>
              </a:rPr>
              <a:t>     ·     </a:t>
            </a:r>
            <a:r>
              <a:rPr sz="1000" b="1" i="0" spc="180">
                <a:solidFill>
                  <a:srgbClr val="C79A45"/>
                </a:solidFill>
                <a:latin typeface="Georgia"/>
              </a:rPr>
              <a:t>02  </a:t>
            </a:r>
            <a:r>
              <a:rPr sz="850" b="0" i="0" spc="180">
                <a:solidFill>
                  <a:srgbClr val="96919C"/>
                </a:solidFill>
                <a:latin typeface="Segoe UI"/>
              </a:rPr>
              <a:t>FACTS</a:t>
            </a:r>
            <a:r>
              <a:rPr sz="850" b="0" i="0" spc="180">
                <a:solidFill>
                  <a:srgbClr val="C79A45"/>
                </a:solidFill>
                <a:latin typeface="Segoe UI"/>
              </a:rPr>
              <a:t>     ·     </a:t>
            </a:r>
            <a:r>
              <a:rPr sz="1000" b="1" i="0" spc="180">
                <a:solidFill>
                  <a:srgbClr val="C79A45"/>
                </a:solidFill>
                <a:latin typeface="Georgia"/>
              </a:rPr>
              <a:t>03  </a:t>
            </a:r>
            <a:r>
              <a:rPr sz="850" b="0" i="0" spc="180">
                <a:solidFill>
                  <a:srgbClr val="96919C"/>
                </a:solidFill>
                <a:latin typeface="Segoe UI"/>
              </a:rPr>
              <a:t>OPINION (POSITIVES)</a:t>
            </a:r>
            <a:r>
              <a:rPr sz="850" b="0" i="0" spc="180">
                <a:solidFill>
                  <a:srgbClr val="C79A45"/>
                </a:solidFill>
                <a:latin typeface="Segoe UI"/>
              </a:rPr>
              <a:t>     ·     </a:t>
            </a:r>
            <a:r>
              <a:rPr sz="1000" b="1" i="0" spc="180">
                <a:solidFill>
                  <a:srgbClr val="C79A45"/>
                </a:solidFill>
                <a:latin typeface="Georgia"/>
              </a:rPr>
              <a:t>04  </a:t>
            </a:r>
            <a:r>
              <a:rPr sz="850" b="0" i="0" spc="180">
                <a:solidFill>
                  <a:srgbClr val="96919C"/>
                </a:solidFill>
                <a:latin typeface="Segoe UI"/>
              </a:rPr>
              <a:t>OPINION (NEGATIVES)</a:t>
            </a:r>
            <a:r>
              <a:rPr sz="850" b="0" i="0" spc="180">
                <a:solidFill>
                  <a:srgbClr val="C79A45"/>
                </a:solidFill>
                <a:latin typeface="Segoe UI"/>
              </a:rPr>
              <a:t>     ·     </a:t>
            </a:r>
            <a:r>
              <a:rPr sz="1000" b="1" i="0" spc="180">
                <a:solidFill>
                  <a:srgbClr val="C79A45"/>
                </a:solidFill>
                <a:latin typeface="Georgia"/>
              </a:rPr>
              <a:t>05  </a:t>
            </a:r>
            <a:r>
              <a:rPr sz="850" b="0" i="0" spc="180">
                <a:solidFill>
                  <a:srgbClr val="96919C"/>
                </a:solidFill>
                <a:latin typeface="Segoe UI"/>
              </a:rPr>
              <a:t>SUMMARY</a:t>
            </a:r>
          </a:p>
        </p:txBody>
      </p:sp>
      <p:sp>
        <p:nvSpPr>
          <p:cNvPr id="10" name="Rounded Rectangle 9"/>
          <p:cNvSpPr/>
          <p:nvPr/>
        </p:nvSpPr>
        <p:spPr>
          <a:xfrm>
            <a:off x="10875234" y="566928"/>
            <a:ext cx="566928" cy="566928"/>
          </a:xfrm>
          <a:prstGeom prst="roundRect">
            <a:avLst>
              <a:gd name="adj" fmla="val 14000"/>
            </a:avLst>
          </a:prstGeom>
          <a:solidFill>
            <a:srgbClr val="C33A2E"/>
          </a:solidFill>
          <a:ln>
            <a:noFill/>
          </a:ln>
          <a:effectLst/>
        </p:spPr>
        <p:txBody>
          <a:bodyPr wrap="square" rtlCol="0" anchor="ctr"/>
          <a:lstStyle/>
          <a:p>
            <a:pPr algn="ctr"/>
            <a:endParaRPr/>
          </a:p>
        </p:txBody>
      </p:sp>
      <p:sp>
        <p:nvSpPr>
          <p:cNvPr id="11" name="TextBox 10"/>
          <p:cNvSpPr txBox="1"/>
          <p:nvPr/>
        </p:nvSpPr>
        <p:spPr>
          <a:xfrm>
            <a:off x="10875234" y="585216"/>
            <a:ext cx="566928" cy="530352"/>
          </a:xfrm>
          <a:prstGeom prst="rect">
            <a:avLst/>
          </a:prstGeom>
          <a:noFill/>
        </p:spPr>
        <p:txBody>
          <a:bodyPr wrap="square" lIns="0" tIns="0" rIns="0" bIns="0" anchor="ctr">
            <a:noAutofit/>
          </a:bodyPr>
          <a:lstStyle/>
          <a:p>
            <a:pPr algn="ctr">
              <a:lnSpc>
                <a:spcPct val="95000"/>
              </a:lnSpc>
            </a:pPr>
            <a:r>
              <a:rPr sz="1700" b="1" i="0">
                <a:solidFill>
                  <a:srgbClr val="F7F2E9"/>
                </a:solidFill>
                <a:latin typeface="Microsoft YaHei"/>
                <a:ea typeface="Microsoft YaHei"/>
                <a:cs typeface="Microsoft YaHei"/>
              </a:rPr>
              <a:t>长安</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79</TotalTime>
  <Words>1081</Words>
  <Application>Microsoft Office PowerPoint</Application>
  <PresentationFormat>宽屏</PresentationFormat>
  <Paragraphs>112</Paragraphs>
  <Slides>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Microsoft YaHei</vt:lpstr>
      <vt:lpstr>Arial</vt:lpstr>
      <vt:lpstr>Calibri</vt:lpstr>
      <vt:lpstr>Georgia</vt:lpstr>
      <vt:lpstr>Segoe UI</vt:lpstr>
      <vt:lpstr>Segoe UI Semibold</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yiming yu</cp:lastModifiedBy>
  <cp:revision>3</cp:revision>
  <dcterms:created xsi:type="dcterms:W3CDTF">2013-01-27T09:14:16Z</dcterms:created>
  <dcterms:modified xsi:type="dcterms:W3CDTF">2026-10-14T05:11:11Z</dcterms:modified>
  <cp:category/>
</cp:coreProperties>
</file>