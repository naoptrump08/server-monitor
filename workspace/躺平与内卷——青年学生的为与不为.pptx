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B2230"/>
              </a:gs>
              <a:gs pos="100000">
                <a:srgbClr val="0D0F15"/>
              </a:gs>
            </a:gsLst>
            <a:lin scaled="0" ang="1452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256032"/>
            <a:ext cx="11676888" cy="6345936"/>
          </a:xfrm>
          <a:prstGeom prst="rect">
            <a:avLst/>
          </a:prstGeom>
          <a:noFill/>
          <a:ln w="12700">
            <a:solidFill>
              <a:srgbClr val="8A7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0" y="-2468880"/>
            <a:ext cx="5486400" cy="5486400"/>
          </a:xfrm>
          <a:prstGeom prst="ellipse">
            <a:avLst/>
          </a:prstGeom>
          <a:solidFill>
            <a:srgbClr val="C9A344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235440" y="-1828800"/>
            <a:ext cx="4389120" cy="4389120"/>
          </a:xfrm>
          <a:prstGeom prst="ellipse">
            <a:avLst/>
          </a:prstGeom>
          <a:solidFill>
            <a:srgbClr val="C9A344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2194560" y="5029200"/>
            <a:ext cx="4572000" cy="4572000"/>
          </a:xfrm>
          <a:prstGeom prst="ellipse">
            <a:avLst/>
          </a:prstGeom>
          <a:solidFill>
            <a:srgbClr val="1B223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234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spc="240">
                <a:solidFill>
                  <a:srgbClr val="C9A344"/>
                </a:solidFill>
                <a:latin typeface="微软雅黑"/>
                <a:ea typeface="微软雅黑"/>
              </a:rPr>
              <a:t>思想政治课 · 主题讨论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965960"/>
            <a:ext cx="10241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>
                <a:solidFill>
                  <a:srgbClr val="F0EDE5"/>
                </a:solidFill>
                <a:latin typeface="微软雅黑"/>
                <a:ea typeface="微软雅黑"/>
              </a:rPr>
              <a:t>躺平</a:t>
            </a:r>
            <a:r>
              <a:rPr sz="3800" b="1">
                <a:solidFill>
                  <a:srgbClr val="C9A344"/>
                </a:solidFill>
                <a:latin typeface="微软雅黑"/>
                <a:ea typeface="微软雅黑"/>
              </a:rPr>
              <a:t>  与  </a:t>
            </a:r>
            <a:r>
              <a:rPr sz="6000" b="1">
                <a:solidFill>
                  <a:srgbClr val="F0EDE5"/>
                </a:solidFill>
                <a:latin typeface="微软雅黑"/>
                <a:ea typeface="微软雅黑"/>
              </a:rPr>
              <a:t>内卷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383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spc="120">
                <a:solidFill>
                  <a:srgbClr val="E7D192"/>
                </a:solidFill>
                <a:latin typeface="微软雅黑"/>
                <a:ea typeface="微软雅黑"/>
              </a:rPr>
              <a:t>—— 青年学生的「为」与「不为」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7008" y="4434840"/>
            <a:ext cx="2194560" cy="36576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47091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spc="120">
                <a:solidFill>
                  <a:srgbClr val="F0EDE5"/>
                </a:solidFill>
                <a:latin typeface="微软雅黑"/>
                <a:ea typeface="微软雅黑"/>
              </a:rPr>
              <a:t>拒绝无效内卷  ·  不做消极躺平</a:t>
            </a:r>
          </a:p>
          <a:p>
            <a:pPr>
              <a:spcBef>
                <a:spcPts val="1200"/>
              </a:spcBef>
            </a:pPr>
            <a:r>
              <a:rPr sz="1400" b="0" spc="80">
                <a:solidFill>
                  <a:srgbClr val="9BA3B2"/>
                </a:solidFill>
                <a:latin typeface="微软雅黑"/>
                <a:ea typeface="微软雅黑"/>
              </a:rPr>
              <a:t>在可为之事上全力以赴，在不可为之事上保持清醒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1920240"/>
            <a:ext cx="4206240" cy="4206240"/>
          </a:xfrm>
          <a:prstGeom prst="ellipse">
            <a:avLst/>
          </a:prstGeom>
          <a:solidFill>
            <a:srgbClr val="C9A344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852160"/>
            <a:ext cx="2377440" cy="2377440"/>
          </a:xfrm>
          <a:prstGeom prst="ellipse">
            <a:avLst/>
          </a:prstGeom>
          <a:solidFill>
            <a:srgbClr val="C9A344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502920"/>
            <a:ext cx="128016" cy="128016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5" y="420624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spc="240">
                <a:solidFill>
                  <a:srgbClr val="C9A344"/>
                </a:solidFill>
                <a:latin typeface="微软雅黑"/>
                <a:ea typeface="微软雅黑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841248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0EDE5"/>
                </a:solidFill>
                <a:latin typeface="微软雅黑"/>
                <a:ea typeface="微软雅黑"/>
              </a:rPr>
              <a:t>议题导航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27632"/>
            <a:ext cx="1737360" cy="27432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804672" y="1591056"/>
            <a:ext cx="100584" cy="100584"/>
          </a:xfrm>
          <a:prstGeom prst="diamond">
            <a:avLst/>
          </a:prstGeom>
          <a:solidFill>
            <a:srgbClr val="E7D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6528816"/>
            <a:ext cx="10543032" cy="10972"/>
          </a:xfrm>
          <a:prstGeom prst="rect">
            <a:avLst/>
          </a:prstGeom>
          <a:solidFill>
            <a:srgbClr val="282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0" y="6199632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C9A344"/>
                </a:solidFill>
                <a:latin typeface="微软雅黑"/>
                <a:ea typeface="微软雅黑"/>
              </a:rPr>
              <a:t>02</a:t>
            </a:r>
            <a:r>
              <a:rPr sz="1100" b="0">
                <a:solidFill>
                  <a:srgbClr val="666F80"/>
                </a:solidFill>
                <a:latin typeface="微软雅黑"/>
                <a:ea typeface="微软雅黑"/>
              </a:rPr>
              <a:t> / 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25296" y="1828800"/>
            <a:ext cx="18288" cy="4023360"/>
          </a:xfrm>
          <a:prstGeom prst="rect">
            <a:avLst/>
          </a:prstGeom>
          <a:solidFill>
            <a:srgbClr val="343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1755648"/>
            <a:ext cx="585216" cy="585216"/>
          </a:xfrm>
          <a:prstGeom prst="ellipse">
            <a:avLst/>
          </a:prstGeom>
          <a:noFill/>
          <a:ln w="15240">
            <a:solidFill>
              <a:srgbClr val="C9A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C9A344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1737360"/>
            <a:ext cx="9509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 b="1">
                <a:solidFill>
                  <a:srgbClr val="F0EDE5"/>
                </a:solidFill>
                <a:latin typeface="微软雅黑"/>
                <a:ea typeface="微软雅黑"/>
              </a:rPr>
              <a:t>现象观察</a:t>
            </a:r>
          </a:p>
          <a:p>
            <a:pPr>
              <a:spcBef>
                <a:spcPts val="200"/>
              </a:spcBef>
            </a:pPr>
            <a:r>
              <a:rPr sz="1250" b="0">
                <a:solidFill>
                  <a:srgbClr val="9BA3B2"/>
                </a:solidFill>
                <a:latin typeface="微软雅黑"/>
                <a:ea typeface="微软雅黑"/>
              </a:rPr>
              <a:t>什么是「内卷」？什么是「躺平」？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2542032"/>
            <a:ext cx="585216" cy="585216"/>
          </a:xfrm>
          <a:prstGeom prst="ellipse">
            <a:avLst/>
          </a:prstGeom>
          <a:noFill/>
          <a:ln w="15240">
            <a:solidFill>
              <a:srgbClr val="C9A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C9A344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523744"/>
            <a:ext cx="9509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 b="1">
                <a:solidFill>
                  <a:srgbClr val="F0EDE5"/>
                </a:solidFill>
                <a:latin typeface="微软雅黑"/>
                <a:ea typeface="微软雅黑"/>
              </a:rPr>
              <a:t>追根溯源</a:t>
            </a:r>
          </a:p>
          <a:p>
            <a:pPr>
              <a:spcBef>
                <a:spcPts val="200"/>
              </a:spcBef>
            </a:pPr>
            <a:r>
              <a:rPr sz="1250" b="0">
                <a:solidFill>
                  <a:srgbClr val="9BA3B2"/>
                </a:solidFill>
                <a:latin typeface="微软雅黑"/>
                <a:ea typeface="微软雅黑"/>
              </a:rPr>
              <a:t>两种社会心态为何在青年中流行？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" y="3328416"/>
            <a:ext cx="585216" cy="585216"/>
          </a:xfrm>
          <a:prstGeom prst="ellipse">
            <a:avLst/>
          </a:prstGeom>
          <a:noFill/>
          <a:ln w="15240">
            <a:solidFill>
              <a:srgbClr val="C9A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C9A344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310128"/>
            <a:ext cx="9509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 b="1">
                <a:solidFill>
                  <a:srgbClr val="F0EDE5"/>
                </a:solidFill>
                <a:latin typeface="微软雅黑"/>
                <a:ea typeface="微软雅黑"/>
              </a:rPr>
              <a:t>辩证审视</a:t>
            </a:r>
          </a:p>
          <a:p>
            <a:pPr>
              <a:spcBef>
                <a:spcPts val="200"/>
              </a:spcBef>
            </a:pPr>
            <a:r>
              <a:rPr sz="1250" b="0">
                <a:solidFill>
                  <a:srgbClr val="9BA3B2"/>
                </a:solidFill>
                <a:latin typeface="微软雅黑"/>
                <a:ea typeface="微软雅黑"/>
              </a:rPr>
              <a:t>内卷与躺平的利与弊、误区何在？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114800"/>
            <a:ext cx="585216" cy="585216"/>
          </a:xfrm>
          <a:prstGeom prst="ellipse">
            <a:avLst/>
          </a:prstGeom>
          <a:noFill/>
          <a:ln w="15240">
            <a:solidFill>
              <a:srgbClr val="C9A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C9A344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096512"/>
            <a:ext cx="9509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 b="1">
                <a:solidFill>
                  <a:srgbClr val="F0EDE5"/>
                </a:solidFill>
                <a:latin typeface="微软雅黑"/>
                <a:ea typeface="微软雅黑"/>
              </a:rPr>
              <a:t>青年之「为」</a:t>
            </a:r>
          </a:p>
          <a:p>
            <a:pPr>
              <a:spcBef>
                <a:spcPts val="200"/>
              </a:spcBef>
            </a:pPr>
            <a:r>
              <a:rPr sz="1250" b="0">
                <a:solidFill>
                  <a:srgbClr val="9BA3B2"/>
                </a:solidFill>
                <a:latin typeface="微软雅黑"/>
                <a:ea typeface="微软雅黑"/>
              </a:rPr>
              <a:t>应当做什么——该担当、该奋斗之处</a:t>
            </a:r>
          </a:p>
        </p:txBody>
      </p:sp>
      <p:sp>
        <p:nvSpPr>
          <p:cNvPr id="20" name="Oval 19"/>
          <p:cNvSpPr/>
          <p:nvPr/>
        </p:nvSpPr>
        <p:spPr>
          <a:xfrm>
            <a:off x="932688" y="4901184"/>
            <a:ext cx="585216" cy="585216"/>
          </a:xfrm>
          <a:prstGeom prst="ellipse">
            <a:avLst/>
          </a:prstGeom>
          <a:noFill/>
          <a:ln w="15240">
            <a:solidFill>
              <a:srgbClr val="C9A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C9A344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882896"/>
            <a:ext cx="9509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 b="1">
                <a:solidFill>
                  <a:srgbClr val="F0EDE5"/>
                </a:solidFill>
                <a:latin typeface="微软雅黑"/>
                <a:ea typeface="微软雅黑"/>
              </a:rPr>
              <a:t>青年之「不为」</a:t>
            </a:r>
          </a:p>
          <a:p>
            <a:pPr>
              <a:spcBef>
                <a:spcPts val="200"/>
              </a:spcBef>
            </a:pPr>
            <a:r>
              <a:rPr sz="1250" b="0">
                <a:solidFill>
                  <a:srgbClr val="9BA3B2"/>
                </a:solidFill>
                <a:latin typeface="微软雅黑"/>
                <a:ea typeface="微软雅黑"/>
              </a:rPr>
              <a:t>不应做什么——该拒绝、该清醒之处</a:t>
            </a:r>
          </a:p>
        </p:txBody>
      </p:sp>
      <p:sp>
        <p:nvSpPr>
          <p:cNvPr id="22" name="Oval 21"/>
          <p:cNvSpPr/>
          <p:nvPr/>
        </p:nvSpPr>
        <p:spPr>
          <a:xfrm>
            <a:off x="932688" y="5687568"/>
            <a:ext cx="585216" cy="585216"/>
          </a:xfrm>
          <a:prstGeom prst="ellipse">
            <a:avLst/>
          </a:prstGeom>
          <a:noFill/>
          <a:ln w="15240">
            <a:solidFill>
              <a:srgbClr val="C9A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C9A344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5669280"/>
            <a:ext cx="9509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 b="1">
                <a:solidFill>
                  <a:srgbClr val="F0EDE5"/>
                </a:solidFill>
                <a:latin typeface="微软雅黑"/>
                <a:ea typeface="微软雅黑"/>
              </a:rPr>
              <a:t>总结寄语</a:t>
            </a:r>
          </a:p>
          <a:p>
            <a:pPr>
              <a:spcBef>
                <a:spcPts val="200"/>
              </a:spcBef>
            </a:pPr>
            <a:r>
              <a:rPr sz="1250" b="0">
                <a:solidFill>
                  <a:srgbClr val="9BA3B2"/>
                </a:solidFill>
                <a:latin typeface="微软雅黑"/>
                <a:ea typeface="微软雅黑"/>
              </a:rPr>
              <a:t>在奋斗与从容之间，找到自己的人生节奏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1920240"/>
            <a:ext cx="4206240" cy="4206240"/>
          </a:xfrm>
          <a:prstGeom prst="ellipse">
            <a:avLst/>
          </a:prstGeom>
          <a:solidFill>
            <a:srgbClr val="C9A344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852160"/>
            <a:ext cx="2377440" cy="2377440"/>
          </a:xfrm>
          <a:prstGeom prst="ellipse">
            <a:avLst/>
          </a:prstGeom>
          <a:solidFill>
            <a:srgbClr val="C9A344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502920"/>
            <a:ext cx="128016" cy="128016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5" y="420624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spc="240">
                <a:solidFill>
                  <a:srgbClr val="C9A344"/>
                </a:solidFill>
                <a:latin typeface="微软雅黑"/>
                <a:ea typeface="微软雅黑"/>
              </a:rPr>
              <a:t>PHENOMENON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841248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0EDE5"/>
                </a:solidFill>
                <a:latin typeface="微软雅黑"/>
                <a:ea typeface="微软雅黑"/>
              </a:rPr>
              <a:t>现象观察 · 什么是「内卷」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27632"/>
            <a:ext cx="1737360" cy="27432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804672" y="1591056"/>
            <a:ext cx="100584" cy="100584"/>
          </a:xfrm>
          <a:prstGeom prst="diamond">
            <a:avLst/>
          </a:prstGeom>
          <a:solidFill>
            <a:srgbClr val="E7D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6528816"/>
            <a:ext cx="10543032" cy="10972"/>
          </a:xfrm>
          <a:prstGeom prst="rect">
            <a:avLst/>
          </a:prstGeom>
          <a:solidFill>
            <a:srgbClr val="282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0" y="6199632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C9A344"/>
                </a:solidFill>
                <a:latin typeface="微软雅黑"/>
                <a:ea typeface="微软雅黑"/>
              </a:rPr>
              <a:t>03</a:t>
            </a:r>
            <a:r>
              <a:rPr sz="1100" b="0">
                <a:solidFill>
                  <a:srgbClr val="666F80"/>
                </a:solidFill>
                <a:latin typeface="微软雅黑"/>
                <a:ea typeface="微软雅黑"/>
              </a:rPr>
              <a:t>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920240"/>
            <a:ext cx="10543032" cy="1024128"/>
          </a:xfrm>
          <a:prstGeom prst="roundRect">
            <a:avLst>
              <a:gd name="adj" fmla="val 8000"/>
            </a:avLst>
          </a:prstGeom>
          <a:solidFill>
            <a:srgbClr val="1A1F2A"/>
          </a:solidFill>
          <a:ln w="12700">
            <a:solidFill>
              <a:srgbClr val="34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1920240"/>
            <a:ext cx="91440" cy="1024128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2029968"/>
            <a:ext cx="99669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50" b="1">
                <a:solidFill>
                  <a:srgbClr val="C9A344"/>
                </a:solidFill>
                <a:latin typeface="微软雅黑"/>
                <a:ea typeface="微软雅黑"/>
              </a:rPr>
              <a:t>概念解读   </a:t>
            </a:r>
            <a:r>
              <a:rPr sz="1450" b="0">
                <a:solidFill>
                  <a:srgbClr val="F0EDE5"/>
                </a:solidFill>
                <a:latin typeface="微软雅黑"/>
                <a:ea typeface="微软雅黑"/>
              </a:rPr>
              <a:t>「内卷」原指社会或组织发展到一定阶段后，无法向外拓展，只能在内部展开过度、低效的重复竞争的状态。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12724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spc="140">
                <a:solidFill>
                  <a:srgbClr val="E7D192"/>
                </a:solidFill>
                <a:latin typeface="微软雅黑"/>
                <a:ea typeface="微软雅黑"/>
              </a:rPr>
              <a:t>常见表现</a:t>
            </a:r>
          </a:p>
        </p:txBody>
      </p:sp>
      <p:sp>
        <p:nvSpPr>
          <p:cNvPr id="15" name="Diamond 14"/>
          <p:cNvSpPr/>
          <p:nvPr/>
        </p:nvSpPr>
        <p:spPr>
          <a:xfrm>
            <a:off x="960120" y="3657600"/>
            <a:ext cx="146304" cy="146304"/>
          </a:xfrm>
          <a:prstGeom prst="diamond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71016" y="3611880"/>
            <a:ext cx="97475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0EDE5"/>
                </a:solidFill>
                <a:latin typeface="微软雅黑"/>
                <a:ea typeface="微软雅黑"/>
              </a:rPr>
              <a:t>加班熬夜、无效内耗，比拼谁更“辛苦”</a:t>
            </a:r>
          </a:p>
        </p:txBody>
      </p:sp>
      <p:sp>
        <p:nvSpPr>
          <p:cNvPr id="17" name="Diamond 16"/>
          <p:cNvSpPr/>
          <p:nvPr/>
        </p:nvSpPr>
        <p:spPr>
          <a:xfrm>
            <a:off x="960120" y="4133088"/>
            <a:ext cx="146304" cy="146304"/>
          </a:xfrm>
          <a:prstGeom prst="diamond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71016" y="4087368"/>
            <a:ext cx="97475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0EDE5"/>
                </a:solidFill>
                <a:latin typeface="微软雅黑"/>
                <a:ea typeface="微软雅黑"/>
              </a:rPr>
              <a:t>同质化竞争，千军万马挤同一座独木桥</a:t>
            </a:r>
          </a:p>
        </p:txBody>
      </p:sp>
      <p:sp>
        <p:nvSpPr>
          <p:cNvPr id="19" name="Diamond 18"/>
          <p:cNvSpPr/>
          <p:nvPr/>
        </p:nvSpPr>
        <p:spPr>
          <a:xfrm>
            <a:off x="960120" y="4608576"/>
            <a:ext cx="146304" cy="146304"/>
          </a:xfrm>
          <a:prstGeom prst="diamond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71016" y="4562856"/>
            <a:ext cx="97475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0EDE5"/>
                </a:solidFill>
                <a:latin typeface="微软雅黑"/>
                <a:ea typeface="微软雅黑"/>
              </a:rPr>
              <a:t>“剧场效应”：前排站起，后排被迫站起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532120"/>
            <a:ext cx="10543032" cy="822960"/>
          </a:xfrm>
          <a:prstGeom prst="roundRect">
            <a:avLst>
              <a:gd name="adj" fmla="val 10000"/>
            </a:avLst>
          </a:prstGeom>
          <a:solidFill>
            <a:srgbClr val="1A1F2A"/>
          </a:solidFill>
          <a:ln w="12700">
            <a:solidFill>
              <a:srgbClr val="34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5532120"/>
            <a:ext cx="91440" cy="822960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0432" y="5605272"/>
            <a:ext cx="9939528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C9A344"/>
                </a:solidFill>
                <a:latin typeface="微软雅黑"/>
                <a:ea typeface="微软雅黑"/>
              </a:rPr>
              <a:t>核心判断  </a:t>
            </a:r>
            <a:r>
              <a:rPr sz="1400" b="0">
                <a:solidFill>
                  <a:srgbClr val="F0EDE5"/>
                </a:solidFill>
                <a:latin typeface="微软雅黑"/>
                <a:ea typeface="微软雅黑"/>
              </a:rPr>
              <a:t>竞争本身并不可怕，可怕的是无意义、低效率、耗竭身心的“内耗式竞争”。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1920240"/>
            <a:ext cx="4206240" cy="4206240"/>
          </a:xfrm>
          <a:prstGeom prst="ellipse">
            <a:avLst/>
          </a:prstGeom>
          <a:solidFill>
            <a:srgbClr val="C9A344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852160"/>
            <a:ext cx="2377440" cy="2377440"/>
          </a:xfrm>
          <a:prstGeom prst="ellipse">
            <a:avLst/>
          </a:prstGeom>
          <a:solidFill>
            <a:srgbClr val="C9A344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502920"/>
            <a:ext cx="128016" cy="128016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5" y="420624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spc="240">
                <a:solidFill>
                  <a:srgbClr val="C9A344"/>
                </a:solidFill>
                <a:latin typeface="微软雅黑"/>
                <a:ea typeface="微软雅黑"/>
              </a:rPr>
              <a:t>PHENOMENON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841248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0EDE5"/>
                </a:solidFill>
                <a:latin typeface="微软雅黑"/>
                <a:ea typeface="微软雅黑"/>
              </a:rPr>
              <a:t>现象观察 · 什么是「躺平」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27632"/>
            <a:ext cx="1737360" cy="27432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804672" y="1591056"/>
            <a:ext cx="100584" cy="100584"/>
          </a:xfrm>
          <a:prstGeom prst="diamond">
            <a:avLst/>
          </a:prstGeom>
          <a:solidFill>
            <a:srgbClr val="E7D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6528816"/>
            <a:ext cx="10543032" cy="10972"/>
          </a:xfrm>
          <a:prstGeom prst="rect">
            <a:avLst/>
          </a:prstGeom>
          <a:solidFill>
            <a:srgbClr val="282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0" y="6199632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C9A344"/>
                </a:solidFill>
                <a:latin typeface="微软雅黑"/>
                <a:ea typeface="微软雅黑"/>
              </a:rPr>
              <a:t>04</a:t>
            </a:r>
            <a:r>
              <a:rPr sz="1100" b="0">
                <a:solidFill>
                  <a:srgbClr val="666F80"/>
                </a:solidFill>
                <a:latin typeface="微软雅黑"/>
                <a:ea typeface="微软雅黑"/>
              </a:rPr>
              <a:t>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920240"/>
            <a:ext cx="10543032" cy="1024128"/>
          </a:xfrm>
          <a:prstGeom prst="roundRect">
            <a:avLst>
              <a:gd name="adj" fmla="val 8000"/>
            </a:avLst>
          </a:prstGeom>
          <a:solidFill>
            <a:srgbClr val="1A1F2A"/>
          </a:solidFill>
          <a:ln w="12700">
            <a:solidFill>
              <a:srgbClr val="34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1920240"/>
            <a:ext cx="91440" cy="1024128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2029968"/>
            <a:ext cx="99669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50" b="1">
                <a:solidFill>
                  <a:srgbClr val="C9A344"/>
                </a:solidFill>
                <a:latin typeface="微软雅黑"/>
                <a:ea typeface="微软雅黑"/>
              </a:rPr>
              <a:t>概念解读   </a:t>
            </a:r>
            <a:r>
              <a:rPr sz="1450" b="0">
                <a:solidFill>
                  <a:srgbClr val="F0EDE5"/>
                </a:solidFill>
                <a:latin typeface="微软雅黑"/>
                <a:ea typeface="微软雅黑"/>
              </a:rPr>
              <a:t>「躺平」指部分年轻人面对压力，选择放弃过度竞争、主动降低欲望，追求低消耗、低期待生活的一种态度。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12724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spc="140">
                <a:solidFill>
                  <a:srgbClr val="E7D192"/>
                </a:solidFill>
                <a:latin typeface="微软雅黑"/>
                <a:ea typeface="微软雅黑"/>
              </a:rPr>
              <a:t>常见表现</a:t>
            </a:r>
          </a:p>
        </p:txBody>
      </p:sp>
      <p:sp>
        <p:nvSpPr>
          <p:cNvPr id="15" name="Diamond 14"/>
          <p:cNvSpPr/>
          <p:nvPr/>
        </p:nvSpPr>
        <p:spPr>
          <a:xfrm>
            <a:off x="960120" y="3657600"/>
            <a:ext cx="146304" cy="146304"/>
          </a:xfrm>
          <a:prstGeom prst="diamond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71016" y="3611880"/>
            <a:ext cx="97475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0EDE5"/>
                </a:solidFill>
                <a:latin typeface="微软雅黑"/>
                <a:ea typeface="微软雅黑"/>
              </a:rPr>
              <a:t>降低物质消费，追求“够用就好”</a:t>
            </a:r>
          </a:p>
        </p:txBody>
      </p:sp>
      <p:sp>
        <p:nvSpPr>
          <p:cNvPr id="17" name="Diamond 16"/>
          <p:cNvSpPr/>
          <p:nvPr/>
        </p:nvSpPr>
        <p:spPr>
          <a:xfrm>
            <a:off x="960120" y="4133088"/>
            <a:ext cx="146304" cy="146304"/>
          </a:xfrm>
          <a:prstGeom prst="diamond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71016" y="4087368"/>
            <a:ext cx="97475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0EDE5"/>
                </a:solidFill>
                <a:latin typeface="微软雅黑"/>
                <a:ea typeface="微软雅黑"/>
              </a:rPr>
              <a:t>拒绝无意义加班，主张工作与生活平衡</a:t>
            </a:r>
          </a:p>
        </p:txBody>
      </p:sp>
      <p:sp>
        <p:nvSpPr>
          <p:cNvPr id="19" name="Diamond 18"/>
          <p:cNvSpPr/>
          <p:nvPr/>
        </p:nvSpPr>
        <p:spPr>
          <a:xfrm>
            <a:off x="960120" y="4608576"/>
            <a:ext cx="146304" cy="146304"/>
          </a:xfrm>
          <a:prstGeom prst="diamond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71016" y="4562856"/>
            <a:ext cx="97475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0EDE5"/>
                </a:solidFill>
                <a:latin typeface="微软雅黑"/>
                <a:ea typeface="微软雅黑"/>
              </a:rPr>
              <a:t>佛系心态，对结果看得更淡、更从容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532120"/>
            <a:ext cx="10543032" cy="822960"/>
          </a:xfrm>
          <a:prstGeom prst="roundRect">
            <a:avLst>
              <a:gd name="adj" fmla="val 10000"/>
            </a:avLst>
          </a:prstGeom>
          <a:solidFill>
            <a:srgbClr val="1A1F2A"/>
          </a:solidFill>
          <a:ln w="12700">
            <a:solidFill>
              <a:srgbClr val="34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5532120"/>
            <a:ext cx="91440" cy="822960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0432" y="5605272"/>
            <a:ext cx="9939528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C9A344"/>
                </a:solidFill>
                <a:latin typeface="微软雅黑"/>
                <a:ea typeface="微软雅黑"/>
              </a:rPr>
              <a:t>核心判断  </a:t>
            </a:r>
            <a:r>
              <a:rPr sz="1400" b="0">
                <a:solidFill>
                  <a:srgbClr val="F0EDE5"/>
                </a:solidFill>
                <a:latin typeface="微软雅黑"/>
                <a:ea typeface="微软雅黑"/>
              </a:rPr>
              <a:t>适度放松是自我调节，彻底放弃是逃避；关键在于“度”。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1920240"/>
            <a:ext cx="4206240" cy="4206240"/>
          </a:xfrm>
          <a:prstGeom prst="ellipse">
            <a:avLst/>
          </a:prstGeom>
          <a:solidFill>
            <a:srgbClr val="C9A344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852160"/>
            <a:ext cx="2377440" cy="2377440"/>
          </a:xfrm>
          <a:prstGeom prst="ellipse">
            <a:avLst/>
          </a:prstGeom>
          <a:solidFill>
            <a:srgbClr val="C9A344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502920"/>
            <a:ext cx="128016" cy="128016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5" y="420624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spc="240">
                <a:solidFill>
                  <a:srgbClr val="C9A344"/>
                </a:solidFill>
                <a:latin typeface="微软雅黑"/>
                <a:ea typeface="微软雅黑"/>
              </a:rPr>
              <a:t>REASON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841248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0EDE5"/>
                </a:solidFill>
                <a:latin typeface="微软雅黑"/>
                <a:ea typeface="微软雅黑"/>
              </a:rPr>
              <a:t>追根溯源 · 内卷为何流行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27632"/>
            <a:ext cx="1737360" cy="27432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804672" y="1591056"/>
            <a:ext cx="100584" cy="100584"/>
          </a:xfrm>
          <a:prstGeom prst="diamond">
            <a:avLst/>
          </a:prstGeom>
          <a:solidFill>
            <a:srgbClr val="E7D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6528816"/>
            <a:ext cx="10543032" cy="10972"/>
          </a:xfrm>
          <a:prstGeom prst="rect">
            <a:avLst/>
          </a:prstGeom>
          <a:solidFill>
            <a:srgbClr val="282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0" y="6199632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C9A344"/>
                </a:solidFill>
                <a:latin typeface="微软雅黑"/>
                <a:ea typeface="微软雅黑"/>
              </a:rPr>
              <a:t>05</a:t>
            </a:r>
            <a:r>
              <a:rPr sz="1100" b="0">
                <a:solidFill>
                  <a:srgbClr val="666F80"/>
                </a:solidFill>
                <a:latin typeface="微软雅黑"/>
                <a:ea typeface="微软雅黑"/>
              </a:rPr>
              <a:t>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920240"/>
            <a:ext cx="5102352" cy="1828800"/>
          </a:xfrm>
          <a:prstGeom prst="roundRect">
            <a:avLst>
              <a:gd name="adj" fmla="val 7000"/>
            </a:avLst>
          </a:prstGeom>
          <a:solidFill>
            <a:srgbClr val="1A1F2A"/>
          </a:solidFill>
          <a:ln w="12700">
            <a:solidFill>
              <a:srgbClr val="34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1920240"/>
            <a:ext cx="5102352" cy="73152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2212848"/>
            <a:ext cx="457200" cy="457200"/>
          </a:xfrm>
          <a:prstGeom prst="ellipse">
            <a:avLst/>
          </a:prstGeom>
          <a:noFill/>
          <a:ln w="15240">
            <a:solidFill>
              <a:srgbClr val="C9A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231136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C9A344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231136"/>
            <a:ext cx="4023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F0EDE5"/>
                </a:solidFill>
                <a:latin typeface="微软雅黑"/>
                <a:ea typeface="微软雅黑"/>
              </a:rPr>
              <a:t>资源有限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9BA3B2"/>
                </a:solidFill>
                <a:latin typeface="微软雅黑"/>
                <a:ea typeface="微软雅黑"/>
              </a:rPr>
              <a:t>优质岗位、升学机会相对稀缺，需求远超供给，形成竞争压力。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920240"/>
            <a:ext cx="5102352" cy="1828800"/>
          </a:xfrm>
          <a:prstGeom prst="roundRect">
            <a:avLst>
              <a:gd name="adj" fmla="val 7000"/>
            </a:avLst>
          </a:prstGeom>
          <a:solidFill>
            <a:srgbClr val="1A1F2A"/>
          </a:solidFill>
          <a:ln w="12700">
            <a:solidFill>
              <a:srgbClr val="34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920240"/>
            <a:ext cx="5102352" cy="73152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37959" y="2212848"/>
            <a:ext cx="457200" cy="457200"/>
          </a:xfrm>
          <a:prstGeom prst="ellipse">
            <a:avLst/>
          </a:prstGeom>
          <a:noFill/>
          <a:ln w="15240">
            <a:solidFill>
              <a:srgbClr val="C9A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59" y="2231136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C9A344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231136"/>
            <a:ext cx="4023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F0EDE5"/>
                </a:solidFill>
                <a:latin typeface="微软雅黑"/>
                <a:ea typeface="微软雅黑"/>
              </a:rPr>
              <a:t>标准单一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9BA3B2"/>
                </a:solidFill>
                <a:latin typeface="微软雅黑"/>
                <a:ea typeface="微软雅黑"/>
              </a:rPr>
              <a:t>评价体系趋于同质化，“分数”“排名”成为衡量价值的主要尺度。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931920"/>
            <a:ext cx="5102352" cy="1828800"/>
          </a:xfrm>
          <a:prstGeom prst="roundRect">
            <a:avLst>
              <a:gd name="adj" fmla="val 7000"/>
            </a:avLst>
          </a:prstGeom>
          <a:solidFill>
            <a:srgbClr val="1A1F2A"/>
          </a:solidFill>
          <a:ln w="12700">
            <a:solidFill>
              <a:srgbClr val="34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3931920"/>
            <a:ext cx="5102352" cy="73152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97280" y="4224528"/>
            <a:ext cx="457200" cy="457200"/>
          </a:xfrm>
          <a:prstGeom prst="ellipse">
            <a:avLst/>
          </a:prstGeom>
          <a:noFill/>
          <a:ln w="15240">
            <a:solidFill>
              <a:srgbClr val="C9A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242816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C9A344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242816"/>
            <a:ext cx="4023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F0EDE5"/>
                </a:solidFill>
                <a:latin typeface="微软雅黑"/>
                <a:ea typeface="微软雅黑"/>
              </a:rPr>
              <a:t>焦虑传导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9BA3B2"/>
                </a:solidFill>
                <a:latin typeface="微软雅黑"/>
                <a:ea typeface="微软雅黑"/>
              </a:rPr>
              <a:t>社会、家庭、同辈的焦虑相互放大，个体被迫卷入竞争漩涡。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931920"/>
            <a:ext cx="5102352" cy="1828800"/>
          </a:xfrm>
          <a:prstGeom prst="roundRect">
            <a:avLst>
              <a:gd name="adj" fmla="val 7000"/>
            </a:avLst>
          </a:prstGeom>
          <a:solidFill>
            <a:srgbClr val="1A1F2A"/>
          </a:solidFill>
          <a:ln w="12700">
            <a:solidFill>
              <a:srgbClr val="34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931920"/>
            <a:ext cx="5102352" cy="73152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37959" y="4224528"/>
            <a:ext cx="457200" cy="457200"/>
          </a:xfrm>
          <a:prstGeom prst="ellipse">
            <a:avLst/>
          </a:prstGeom>
          <a:noFill/>
          <a:ln w="15240">
            <a:solidFill>
              <a:srgbClr val="C9A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59" y="4242816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C9A344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4242816"/>
            <a:ext cx="4023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F0EDE5"/>
                </a:solidFill>
                <a:latin typeface="微软雅黑"/>
                <a:ea typeface="微软雅黑"/>
              </a:rPr>
              <a:t>发展约束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9BA3B2"/>
                </a:solidFill>
                <a:latin typeface="微软雅黑"/>
                <a:ea typeface="微软雅黑"/>
              </a:rPr>
              <a:t>特定发展阶段内，增量空间收窄，竞争转向存量“内耗”。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806440"/>
            <a:ext cx="10543032" cy="822960"/>
          </a:xfrm>
          <a:prstGeom prst="roundRect">
            <a:avLst>
              <a:gd name="adj" fmla="val 10000"/>
            </a:avLst>
          </a:prstGeom>
          <a:solidFill>
            <a:srgbClr val="1A1F2A"/>
          </a:solidFill>
          <a:ln w="12700">
            <a:solidFill>
              <a:srgbClr val="34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5806440"/>
            <a:ext cx="91440" cy="822960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70432" y="5879592"/>
            <a:ext cx="9939528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>
                <a:solidFill>
                  <a:srgbClr val="C9A344"/>
                </a:solidFill>
                <a:latin typeface="微软雅黑"/>
                <a:ea typeface="微软雅黑"/>
              </a:rPr>
              <a:t>小结  </a:t>
            </a:r>
            <a:r>
              <a:rPr sz="1300" b="0">
                <a:solidFill>
                  <a:srgbClr val="F0EDE5"/>
                </a:solidFill>
                <a:latin typeface="微软雅黑"/>
                <a:ea typeface="微软雅黑"/>
              </a:rPr>
              <a:t>内卷不是某一个人的问题，而是发展阶段、评价机制与群体心理共同作用的结果。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1920240"/>
            <a:ext cx="4206240" cy="4206240"/>
          </a:xfrm>
          <a:prstGeom prst="ellipse">
            <a:avLst/>
          </a:prstGeom>
          <a:solidFill>
            <a:srgbClr val="C9A344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852160"/>
            <a:ext cx="2377440" cy="2377440"/>
          </a:xfrm>
          <a:prstGeom prst="ellipse">
            <a:avLst/>
          </a:prstGeom>
          <a:solidFill>
            <a:srgbClr val="C9A344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502920"/>
            <a:ext cx="128016" cy="128016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5" y="420624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spc="240">
                <a:solidFill>
                  <a:srgbClr val="C9A344"/>
                </a:solidFill>
                <a:latin typeface="微软雅黑"/>
                <a:ea typeface="微软雅黑"/>
              </a:rPr>
              <a:t>REASON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841248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0EDE5"/>
                </a:solidFill>
                <a:latin typeface="微软雅黑"/>
                <a:ea typeface="微软雅黑"/>
              </a:rPr>
              <a:t>追根溯源 · 躺平为何出现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27632"/>
            <a:ext cx="1737360" cy="27432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804672" y="1591056"/>
            <a:ext cx="100584" cy="100584"/>
          </a:xfrm>
          <a:prstGeom prst="diamond">
            <a:avLst/>
          </a:prstGeom>
          <a:solidFill>
            <a:srgbClr val="E7D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6528816"/>
            <a:ext cx="10543032" cy="10972"/>
          </a:xfrm>
          <a:prstGeom prst="rect">
            <a:avLst/>
          </a:prstGeom>
          <a:solidFill>
            <a:srgbClr val="282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0" y="6199632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C9A344"/>
                </a:solidFill>
                <a:latin typeface="微软雅黑"/>
                <a:ea typeface="微软雅黑"/>
              </a:rPr>
              <a:t>06</a:t>
            </a:r>
            <a:r>
              <a:rPr sz="1100" b="0">
                <a:solidFill>
                  <a:srgbClr val="666F80"/>
                </a:solidFill>
                <a:latin typeface="微软雅黑"/>
                <a:ea typeface="微软雅黑"/>
              </a:rPr>
              <a:t>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920240"/>
            <a:ext cx="5102352" cy="1828800"/>
          </a:xfrm>
          <a:prstGeom prst="roundRect">
            <a:avLst>
              <a:gd name="adj" fmla="val 7000"/>
            </a:avLst>
          </a:prstGeom>
          <a:solidFill>
            <a:srgbClr val="1A1F2A"/>
          </a:solidFill>
          <a:ln w="12700">
            <a:solidFill>
              <a:srgbClr val="34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1920240"/>
            <a:ext cx="5102352" cy="73152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2212848"/>
            <a:ext cx="457200" cy="457200"/>
          </a:xfrm>
          <a:prstGeom prst="ellipse">
            <a:avLst/>
          </a:prstGeom>
          <a:noFill/>
          <a:ln w="15240">
            <a:solidFill>
              <a:srgbClr val="C9A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231136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C9A344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231136"/>
            <a:ext cx="4023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F0EDE5"/>
                </a:solidFill>
                <a:latin typeface="微软雅黑"/>
                <a:ea typeface="微软雅黑"/>
              </a:rPr>
              <a:t>对内卷的逆反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9BA3B2"/>
                </a:solidFill>
                <a:latin typeface="微软雅黑"/>
                <a:ea typeface="微软雅黑"/>
              </a:rPr>
              <a:t>当竞争变得无意义且过度时，部分人选择主动退出，以“躺”表达不满。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920240"/>
            <a:ext cx="5102352" cy="1828800"/>
          </a:xfrm>
          <a:prstGeom prst="roundRect">
            <a:avLst>
              <a:gd name="adj" fmla="val 7000"/>
            </a:avLst>
          </a:prstGeom>
          <a:solidFill>
            <a:srgbClr val="1A1F2A"/>
          </a:solidFill>
          <a:ln w="12700">
            <a:solidFill>
              <a:srgbClr val="34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920240"/>
            <a:ext cx="5102352" cy="73152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37959" y="2212848"/>
            <a:ext cx="457200" cy="457200"/>
          </a:xfrm>
          <a:prstGeom prst="ellipse">
            <a:avLst/>
          </a:prstGeom>
          <a:noFill/>
          <a:ln w="15240">
            <a:solidFill>
              <a:srgbClr val="C9A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59" y="2231136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C9A344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231136"/>
            <a:ext cx="4023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F0EDE5"/>
                </a:solidFill>
                <a:latin typeface="微软雅黑"/>
                <a:ea typeface="微软雅黑"/>
              </a:rPr>
              <a:t>高压下的自保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9BA3B2"/>
                </a:solidFill>
                <a:latin typeface="微软雅黑"/>
                <a:ea typeface="微软雅黑"/>
              </a:rPr>
              <a:t>长期高压透支身心，躺平成为一种心理上的自我保护与缓冲。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931920"/>
            <a:ext cx="5102352" cy="1828800"/>
          </a:xfrm>
          <a:prstGeom prst="roundRect">
            <a:avLst>
              <a:gd name="adj" fmla="val 7000"/>
            </a:avLst>
          </a:prstGeom>
          <a:solidFill>
            <a:srgbClr val="1A1F2A"/>
          </a:solidFill>
          <a:ln w="12700">
            <a:solidFill>
              <a:srgbClr val="34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3931920"/>
            <a:ext cx="5102352" cy="73152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97280" y="4224528"/>
            <a:ext cx="457200" cy="457200"/>
          </a:xfrm>
          <a:prstGeom prst="ellipse">
            <a:avLst/>
          </a:prstGeom>
          <a:noFill/>
          <a:ln w="15240">
            <a:solidFill>
              <a:srgbClr val="C9A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242816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C9A344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242816"/>
            <a:ext cx="4023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F0EDE5"/>
                </a:solidFill>
                <a:latin typeface="微软雅黑"/>
                <a:ea typeface="微软雅黑"/>
              </a:rPr>
              <a:t>反思单一成功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9BA3B2"/>
                </a:solidFill>
                <a:latin typeface="微软雅黑"/>
                <a:ea typeface="微软雅黑"/>
              </a:rPr>
              <a:t>对“唯成功论”的质疑，促使人们重新思考人生价值的多元可能。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931920"/>
            <a:ext cx="5102352" cy="1828800"/>
          </a:xfrm>
          <a:prstGeom prst="roundRect">
            <a:avLst>
              <a:gd name="adj" fmla="val 7000"/>
            </a:avLst>
          </a:prstGeom>
          <a:solidFill>
            <a:srgbClr val="1A1F2A"/>
          </a:solidFill>
          <a:ln w="12700">
            <a:solidFill>
              <a:srgbClr val="34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931920"/>
            <a:ext cx="5102352" cy="73152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37959" y="4224528"/>
            <a:ext cx="457200" cy="457200"/>
          </a:xfrm>
          <a:prstGeom prst="ellipse">
            <a:avLst/>
          </a:prstGeom>
          <a:noFill/>
          <a:ln w="15240">
            <a:solidFill>
              <a:srgbClr val="C9A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59" y="4242816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C9A344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4242816"/>
            <a:ext cx="4023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F0EDE5"/>
                </a:solidFill>
                <a:latin typeface="微软雅黑"/>
                <a:ea typeface="微软雅黑"/>
              </a:rPr>
              <a:t>时代提供选择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9BA3B2"/>
                </a:solidFill>
                <a:latin typeface="微软雅黑"/>
                <a:ea typeface="微软雅黑"/>
              </a:rPr>
              <a:t>物质基础改善、价值取向多元，让“按自己的节奏生活”成为可能。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806440"/>
            <a:ext cx="10543032" cy="822960"/>
          </a:xfrm>
          <a:prstGeom prst="roundRect">
            <a:avLst>
              <a:gd name="adj" fmla="val 10000"/>
            </a:avLst>
          </a:prstGeom>
          <a:solidFill>
            <a:srgbClr val="1A1F2A"/>
          </a:solidFill>
          <a:ln w="12700">
            <a:solidFill>
              <a:srgbClr val="34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5806440"/>
            <a:ext cx="91440" cy="822960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70432" y="5879592"/>
            <a:ext cx="9939528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>
                <a:solidFill>
                  <a:srgbClr val="C9A344"/>
                </a:solidFill>
                <a:latin typeface="微软雅黑"/>
                <a:ea typeface="微软雅黑"/>
              </a:rPr>
              <a:t>小结  </a:t>
            </a:r>
            <a:r>
              <a:rPr sz="1300" b="0">
                <a:solidFill>
                  <a:srgbClr val="F0EDE5"/>
                </a:solidFill>
                <a:latin typeface="微软雅黑"/>
                <a:ea typeface="微软雅黑"/>
              </a:rPr>
              <a:t>躺平既是社会心态的折射，也包含对人生意义与生活方式的一次认真追问。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1920240"/>
            <a:ext cx="4206240" cy="4206240"/>
          </a:xfrm>
          <a:prstGeom prst="ellipse">
            <a:avLst/>
          </a:prstGeom>
          <a:solidFill>
            <a:srgbClr val="C9A344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852160"/>
            <a:ext cx="2377440" cy="2377440"/>
          </a:xfrm>
          <a:prstGeom prst="ellipse">
            <a:avLst/>
          </a:prstGeom>
          <a:solidFill>
            <a:srgbClr val="C9A344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502920"/>
            <a:ext cx="128016" cy="128016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5" y="420624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spc="240">
                <a:solidFill>
                  <a:srgbClr val="C9A344"/>
                </a:solidFill>
                <a:latin typeface="微软雅黑"/>
                <a:ea typeface="微软雅黑"/>
              </a:rPr>
              <a:t>DIALECTIC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841248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0EDE5"/>
                </a:solidFill>
                <a:latin typeface="微软雅黑"/>
                <a:ea typeface="微软雅黑"/>
              </a:rPr>
              <a:t>辩证审视 · 内卷的利与弊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27632"/>
            <a:ext cx="1737360" cy="27432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804672" y="1591056"/>
            <a:ext cx="100584" cy="100584"/>
          </a:xfrm>
          <a:prstGeom prst="diamond">
            <a:avLst/>
          </a:prstGeom>
          <a:solidFill>
            <a:srgbClr val="E7D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6528816"/>
            <a:ext cx="10543032" cy="10972"/>
          </a:xfrm>
          <a:prstGeom prst="rect">
            <a:avLst/>
          </a:prstGeom>
          <a:solidFill>
            <a:srgbClr val="282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0" y="6199632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C9A344"/>
                </a:solidFill>
                <a:latin typeface="微软雅黑"/>
                <a:ea typeface="微软雅黑"/>
              </a:rPr>
              <a:t>07</a:t>
            </a:r>
            <a:r>
              <a:rPr sz="1100" b="0">
                <a:solidFill>
                  <a:srgbClr val="666F80"/>
                </a:solidFill>
                <a:latin typeface="微软雅黑"/>
                <a:ea typeface="微软雅黑"/>
              </a:rPr>
              <a:t>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874519"/>
            <a:ext cx="5120640" cy="3657600"/>
          </a:xfrm>
          <a:prstGeom prst="roundRect">
            <a:avLst>
              <a:gd name="adj" fmla="val 5000"/>
            </a:avLst>
          </a:prstGeom>
          <a:solidFill>
            <a:srgbClr val="162420"/>
          </a:solidFill>
          <a:ln w="12700">
            <a:solidFill>
              <a:srgbClr val="2E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1874519"/>
            <a:ext cx="5120640" cy="73152"/>
          </a:xfrm>
          <a:prstGeom prst="rect">
            <a:avLst/>
          </a:prstGeom>
          <a:solidFill>
            <a:srgbClr val="5FA8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084831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spc="120">
                <a:solidFill>
                  <a:srgbClr val="5FA885"/>
                </a:solidFill>
                <a:latin typeface="微软雅黑"/>
                <a:ea typeface="微软雅黑"/>
              </a:rPr>
              <a:t>积极一面（利）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2752344"/>
            <a:ext cx="137160" cy="137160"/>
          </a:xfrm>
          <a:prstGeom prst="ellipse">
            <a:avLst/>
          </a:prstGeom>
          <a:solidFill>
            <a:srgbClr val="5FA8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08176" y="2697480"/>
            <a:ext cx="42153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F0EDE5"/>
                </a:solidFill>
                <a:latin typeface="微软雅黑"/>
                <a:ea typeface="微软雅黑"/>
              </a:rPr>
              <a:t>适度竞争能够激发潜能、催人奋进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3410712"/>
            <a:ext cx="137160" cy="137160"/>
          </a:xfrm>
          <a:prstGeom prst="ellipse">
            <a:avLst/>
          </a:prstGeom>
          <a:solidFill>
            <a:srgbClr val="5FA8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8176" y="3355848"/>
            <a:ext cx="42153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F0EDE5"/>
                </a:solidFill>
                <a:latin typeface="微软雅黑"/>
                <a:ea typeface="微软雅黑"/>
              </a:rPr>
              <a:t>推动个人成长与集体事业不断进步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" y="4069080"/>
            <a:ext cx="137160" cy="137160"/>
          </a:xfrm>
          <a:prstGeom prst="ellipse">
            <a:avLst/>
          </a:prstGeom>
          <a:solidFill>
            <a:srgbClr val="5FA8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08176" y="4014216"/>
            <a:ext cx="42153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F0EDE5"/>
                </a:solidFill>
                <a:latin typeface="微软雅黑"/>
                <a:ea typeface="微软雅黑"/>
              </a:rPr>
              <a:t>让努力与才华有更多被看见的机会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874519"/>
            <a:ext cx="5120640" cy="3657600"/>
          </a:xfrm>
          <a:prstGeom prst="roundRect">
            <a:avLst>
              <a:gd name="adj" fmla="val 5000"/>
            </a:avLst>
          </a:prstGeom>
          <a:solidFill>
            <a:srgbClr val="261A1C"/>
          </a:solidFill>
          <a:ln w="12700">
            <a:solidFill>
              <a:srgbClr val="4C2E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874519"/>
            <a:ext cx="5120640" cy="73152"/>
          </a:xfrm>
          <a:prstGeom prst="rect">
            <a:avLst/>
          </a:prstGeom>
          <a:solidFill>
            <a:srgbClr val="C6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2084831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spc="120">
                <a:solidFill>
                  <a:srgbClr val="C65D50"/>
                </a:solidFill>
                <a:latin typeface="微软雅黑"/>
                <a:ea typeface="微软雅黑"/>
              </a:rPr>
              <a:t>消极一面（弊）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2743200"/>
            <a:ext cx="137160" cy="137160"/>
          </a:xfrm>
          <a:prstGeom prst="rect">
            <a:avLst/>
          </a:prstGeom>
          <a:solidFill>
            <a:srgbClr val="C6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48856" y="2697480"/>
            <a:ext cx="42153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F0EDE5"/>
                </a:solidFill>
                <a:latin typeface="微软雅黑"/>
                <a:ea typeface="微软雅黑"/>
              </a:rPr>
              <a:t>过度内耗透支身心，侵蚀健康与生活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3401568"/>
            <a:ext cx="137160" cy="137160"/>
          </a:xfrm>
          <a:prstGeom prst="rect">
            <a:avLst/>
          </a:prstGeom>
          <a:solidFill>
            <a:srgbClr val="C6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48856" y="3355848"/>
            <a:ext cx="42153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F0EDE5"/>
                </a:solidFill>
                <a:latin typeface="微软雅黑"/>
                <a:ea typeface="微软雅黑"/>
              </a:rPr>
              <a:t>挤占创造空间，陷入低水平重复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37960" y="4059936"/>
            <a:ext cx="137160" cy="137160"/>
          </a:xfrm>
          <a:prstGeom prst="rect">
            <a:avLst/>
          </a:prstGeom>
          <a:solidFill>
            <a:srgbClr val="C6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48856" y="4014216"/>
            <a:ext cx="42153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F0EDE5"/>
                </a:solidFill>
                <a:latin typeface="微软雅黑"/>
                <a:ea typeface="微软雅黑"/>
              </a:rPr>
              <a:t>催生焦虑攀比，扭曲奋斗的意义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760720"/>
            <a:ext cx="10543032" cy="822960"/>
          </a:xfrm>
          <a:prstGeom prst="roundRect">
            <a:avLst>
              <a:gd name="adj" fmla="val 10000"/>
            </a:avLst>
          </a:prstGeom>
          <a:solidFill>
            <a:srgbClr val="1A1F2A"/>
          </a:solidFill>
          <a:ln w="12700">
            <a:solidFill>
              <a:srgbClr val="34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" y="5760720"/>
            <a:ext cx="91440" cy="822960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0432" y="5833872"/>
            <a:ext cx="9939528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>
                <a:solidFill>
                  <a:srgbClr val="C9A344"/>
                </a:solidFill>
                <a:latin typeface="微软雅黑"/>
                <a:ea typeface="微软雅黑"/>
              </a:rPr>
              <a:t>结论  </a:t>
            </a:r>
            <a:r>
              <a:rPr sz="1300" b="0">
                <a:solidFill>
                  <a:srgbClr val="F0EDE5"/>
                </a:solidFill>
                <a:latin typeface="微软雅黑"/>
                <a:ea typeface="微软雅黑"/>
              </a:rPr>
              <a:t>我们要警惕的不是“努力”，而是“无效的内耗”。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1920240"/>
            <a:ext cx="4206240" cy="4206240"/>
          </a:xfrm>
          <a:prstGeom prst="ellipse">
            <a:avLst/>
          </a:prstGeom>
          <a:solidFill>
            <a:srgbClr val="C9A344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852160"/>
            <a:ext cx="2377440" cy="2377440"/>
          </a:xfrm>
          <a:prstGeom prst="ellipse">
            <a:avLst/>
          </a:prstGeom>
          <a:solidFill>
            <a:srgbClr val="C9A344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502920"/>
            <a:ext cx="128016" cy="128016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5" y="420624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spc="240">
                <a:solidFill>
                  <a:srgbClr val="C9A344"/>
                </a:solidFill>
                <a:latin typeface="微软雅黑"/>
                <a:ea typeface="微软雅黑"/>
              </a:rPr>
              <a:t>DIALECTIC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841248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0EDE5"/>
                </a:solidFill>
                <a:latin typeface="微软雅黑"/>
                <a:ea typeface="微软雅黑"/>
              </a:rPr>
              <a:t>辩证审视 · 躺平的利与弊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27632"/>
            <a:ext cx="1737360" cy="27432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804672" y="1591056"/>
            <a:ext cx="100584" cy="100584"/>
          </a:xfrm>
          <a:prstGeom prst="diamond">
            <a:avLst/>
          </a:prstGeom>
          <a:solidFill>
            <a:srgbClr val="E7D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6528816"/>
            <a:ext cx="10543032" cy="10972"/>
          </a:xfrm>
          <a:prstGeom prst="rect">
            <a:avLst/>
          </a:prstGeom>
          <a:solidFill>
            <a:srgbClr val="282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0" y="6199632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C9A344"/>
                </a:solidFill>
                <a:latin typeface="微软雅黑"/>
                <a:ea typeface="微软雅黑"/>
              </a:rPr>
              <a:t>08</a:t>
            </a:r>
            <a:r>
              <a:rPr sz="1100" b="0">
                <a:solidFill>
                  <a:srgbClr val="666F80"/>
                </a:solidFill>
                <a:latin typeface="微软雅黑"/>
                <a:ea typeface="微软雅黑"/>
              </a:rPr>
              <a:t>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874519"/>
            <a:ext cx="5120640" cy="3657600"/>
          </a:xfrm>
          <a:prstGeom prst="roundRect">
            <a:avLst>
              <a:gd name="adj" fmla="val 5000"/>
            </a:avLst>
          </a:prstGeom>
          <a:solidFill>
            <a:srgbClr val="162420"/>
          </a:solidFill>
          <a:ln w="12700">
            <a:solidFill>
              <a:srgbClr val="2E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1874519"/>
            <a:ext cx="5120640" cy="73152"/>
          </a:xfrm>
          <a:prstGeom prst="rect">
            <a:avLst/>
          </a:prstGeom>
          <a:solidFill>
            <a:srgbClr val="5FA8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084831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spc="120">
                <a:solidFill>
                  <a:srgbClr val="5FA885"/>
                </a:solidFill>
                <a:latin typeface="微软雅黑"/>
                <a:ea typeface="微软雅黑"/>
              </a:rPr>
              <a:t>积极一面（利）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2752344"/>
            <a:ext cx="137160" cy="137160"/>
          </a:xfrm>
          <a:prstGeom prst="ellipse">
            <a:avLst/>
          </a:prstGeom>
          <a:solidFill>
            <a:srgbClr val="5FA8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08176" y="2697480"/>
            <a:ext cx="42153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F0EDE5"/>
                </a:solidFill>
                <a:latin typeface="微软雅黑"/>
                <a:ea typeface="微软雅黑"/>
              </a:rPr>
              <a:t>提供喘息空间，及时调整身心状态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3410712"/>
            <a:ext cx="137160" cy="137160"/>
          </a:xfrm>
          <a:prstGeom prst="ellipse">
            <a:avLst/>
          </a:prstGeom>
          <a:solidFill>
            <a:srgbClr val="5FA8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8176" y="3355848"/>
            <a:ext cx="42153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F0EDE5"/>
                </a:solidFill>
                <a:latin typeface="微软雅黑"/>
                <a:ea typeface="微软雅黑"/>
              </a:rPr>
              <a:t>反思人生意义，拒绝盲目跟风攀比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" y="4069080"/>
            <a:ext cx="137160" cy="137160"/>
          </a:xfrm>
          <a:prstGeom prst="ellipse">
            <a:avLst/>
          </a:prstGeom>
          <a:solidFill>
            <a:srgbClr val="5FA8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08176" y="4014216"/>
            <a:ext cx="42153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F0EDE5"/>
                </a:solidFill>
                <a:latin typeface="微软雅黑"/>
                <a:ea typeface="微软雅黑"/>
              </a:rPr>
              <a:t>倡导生活平衡，重视质量与幸福感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874519"/>
            <a:ext cx="5120640" cy="3657600"/>
          </a:xfrm>
          <a:prstGeom prst="roundRect">
            <a:avLst>
              <a:gd name="adj" fmla="val 5000"/>
            </a:avLst>
          </a:prstGeom>
          <a:solidFill>
            <a:srgbClr val="261A1C"/>
          </a:solidFill>
          <a:ln w="12700">
            <a:solidFill>
              <a:srgbClr val="4C2E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874519"/>
            <a:ext cx="5120640" cy="73152"/>
          </a:xfrm>
          <a:prstGeom prst="rect">
            <a:avLst/>
          </a:prstGeom>
          <a:solidFill>
            <a:srgbClr val="C6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2084831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spc="120">
                <a:solidFill>
                  <a:srgbClr val="C65D50"/>
                </a:solidFill>
                <a:latin typeface="微软雅黑"/>
                <a:ea typeface="微软雅黑"/>
              </a:rPr>
              <a:t>消极一面（弊）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2743200"/>
            <a:ext cx="137160" cy="137160"/>
          </a:xfrm>
          <a:prstGeom prst="rect">
            <a:avLst/>
          </a:prstGeom>
          <a:solidFill>
            <a:srgbClr val="C6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48856" y="2697480"/>
            <a:ext cx="42153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F0EDE5"/>
                </a:solidFill>
                <a:latin typeface="微软雅黑"/>
                <a:ea typeface="微软雅黑"/>
              </a:rPr>
              <a:t>彻底躺平丧失斗志，虚度大好青春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3401568"/>
            <a:ext cx="137160" cy="137160"/>
          </a:xfrm>
          <a:prstGeom prst="rect">
            <a:avLst/>
          </a:prstGeom>
          <a:solidFill>
            <a:srgbClr val="C6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48856" y="3355848"/>
            <a:ext cx="42153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F0EDE5"/>
                </a:solidFill>
                <a:latin typeface="微软雅黑"/>
                <a:ea typeface="微软雅黑"/>
              </a:rPr>
              <a:t>以“佛系”之名逃避责任与成长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37960" y="4059936"/>
            <a:ext cx="137160" cy="137160"/>
          </a:xfrm>
          <a:prstGeom prst="rect">
            <a:avLst/>
          </a:prstGeom>
          <a:solidFill>
            <a:srgbClr val="C6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48856" y="4014216"/>
            <a:ext cx="42153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F0EDE5"/>
                </a:solidFill>
                <a:latin typeface="微软雅黑"/>
                <a:ea typeface="微软雅黑"/>
              </a:rPr>
              <a:t>放弃奋斗，最终失去选择的能力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760720"/>
            <a:ext cx="10543032" cy="822960"/>
          </a:xfrm>
          <a:prstGeom prst="roundRect">
            <a:avLst>
              <a:gd name="adj" fmla="val 10000"/>
            </a:avLst>
          </a:prstGeom>
          <a:solidFill>
            <a:srgbClr val="1A1F2A"/>
          </a:solidFill>
          <a:ln w="12700">
            <a:solidFill>
              <a:srgbClr val="34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" y="5760720"/>
            <a:ext cx="91440" cy="822960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0432" y="5833872"/>
            <a:ext cx="9939528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>
                <a:solidFill>
                  <a:srgbClr val="C9A344"/>
                </a:solidFill>
                <a:latin typeface="微软雅黑"/>
                <a:ea typeface="微软雅黑"/>
              </a:rPr>
              <a:t>结论  </a:t>
            </a:r>
            <a:r>
              <a:rPr sz="1300" b="0">
                <a:solidFill>
                  <a:srgbClr val="F0EDE5"/>
                </a:solidFill>
                <a:latin typeface="微软雅黑"/>
                <a:ea typeface="微软雅黑"/>
              </a:rPr>
              <a:t>躺平可以“歇脚”，但不能“就地长眠”；休息是为了更好地出发。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1920240"/>
            <a:ext cx="4206240" cy="4206240"/>
          </a:xfrm>
          <a:prstGeom prst="ellipse">
            <a:avLst/>
          </a:prstGeom>
          <a:solidFill>
            <a:srgbClr val="C9A344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852160"/>
            <a:ext cx="2377440" cy="2377440"/>
          </a:xfrm>
          <a:prstGeom prst="ellipse">
            <a:avLst/>
          </a:prstGeom>
          <a:solidFill>
            <a:srgbClr val="C9A344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502920"/>
            <a:ext cx="128016" cy="128016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5" y="420624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spc="240">
                <a:solidFill>
                  <a:srgbClr val="C9A344"/>
                </a:solidFill>
                <a:latin typeface="微软雅黑"/>
                <a:ea typeface="微软雅黑"/>
              </a:rPr>
              <a:t>WHAT TO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841248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0EDE5"/>
                </a:solidFill>
                <a:latin typeface="微软雅黑"/>
                <a:ea typeface="微软雅黑"/>
              </a:rPr>
              <a:t>青年之「为」· 应当做什么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27632"/>
            <a:ext cx="1737360" cy="27432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804672" y="1591056"/>
            <a:ext cx="100584" cy="100584"/>
          </a:xfrm>
          <a:prstGeom prst="diamond">
            <a:avLst/>
          </a:prstGeom>
          <a:solidFill>
            <a:srgbClr val="E7D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6528816"/>
            <a:ext cx="10543032" cy="10972"/>
          </a:xfrm>
          <a:prstGeom prst="rect">
            <a:avLst/>
          </a:prstGeom>
          <a:solidFill>
            <a:srgbClr val="282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0" y="6199632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C9A344"/>
                </a:solidFill>
                <a:latin typeface="微软雅黑"/>
                <a:ea typeface="微软雅黑"/>
              </a:rPr>
              <a:t>09</a:t>
            </a:r>
            <a:r>
              <a:rPr sz="1100" b="0">
                <a:solidFill>
                  <a:srgbClr val="666F80"/>
                </a:solidFill>
                <a:latin typeface="微软雅黑"/>
                <a:ea typeface="微软雅黑"/>
              </a:rPr>
              <a:t>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874519"/>
            <a:ext cx="5102352" cy="1874519"/>
          </a:xfrm>
          <a:prstGeom prst="roundRect">
            <a:avLst>
              <a:gd name="adj" fmla="val 7000"/>
            </a:avLst>
          </a:prstGeom>
          <a:solidFill>
            <a:srgbClr val="1A1F2A"/>
          </a:solidFill>
          <a:ln w="12700">
            <a:solidFill>
              <a:srgbClr val="34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1874519"/>
            <a:ext cx="91440" cy="1874519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88720" y="2167127"/>
            <a:ext cx="512064" cy="512064"/>
          </a:xfrm>
          <a:prstGeom prst="ellipse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176272"/>
            <a:ext cx="5120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0F15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65376" y="2167127"/>
            <a:ext cx="3886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F0EDE5"/>
                </a:solidFill>
                <a:latin typeface="微软雅黑"/>
                <a:ea typeface="微软雅黑"/>
              </a:rPr>
              <a:t>为理想而奋斗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9BA3B2"/>
                </a:solidFill>
                <a:latin typeface="微软雅黑"/>
                <a:ea typeface="微软雅黑"/>
              </a:rPr>
              <a:t>立大志、明大德，把个人小我融入国家大我，做有志向的青年。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874519"/>
            <a:ext cx="5102352" cy="1874519"/>
          </a:xfrm>
          <a:prstGeom prst="roundRect">
            <a:avLst>
              <a:gd name="adj" fmla="val 7000"/>
            </a:avLst>
          </a:prstGeom>
          <a:solidFill>
            <a:srgbClr val="1A1F2A"/>
          </a:solidFill>
          <a:ln w="12700">
            <a:solidFill>
              <a:srgbClr val="34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874519"/>
            <a:ext cx="91440" cy="1874519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29400" y="2167127"/>
            <a:ext cx="512064" cy="512064"/>
          </a:xfrm>
          <a:prstGeom prst="ellipse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2176272"/>
            <a:ext cx="5120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0F15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6055" y="2167127"/>
            <a:ext cx="3886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F0EDE5"/>
                </a:solidFill>
                <a:latin typeface="微软雅黑"/>
                <a:ea typeface="微软雅黑"/>
              </a:rPr>
              <a:t>为成长而学习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9BA3B2"/>
                </a:solidFill>
                <a:latin typeface="微软雅黑"/>
                <a:ea typeface="微软雅黑"/>
              </a:rPr>
              <a:t>打牢知识根基、练就过硬本领，做有本领、能担当的青年。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886200"/>
            <a:ext cx="5102352" cy="1874519"/>
          </a:xfrm>
          <a:prstGeom prst="roundRect">
            <a:avLst>
              <a:gd name="adj" fmla="val 7000"/>
            </a:avLst>
          </a:prstGeom>
          <a:solidFill>
            <a:srgbClr val="1A1F2A"/>
          </a:solidFill>
          <a:ln w="12700">
            <a:solidFill>
              <a:srgbClr val="34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3886200"/>
            <a:ext cx="91440" cy="1874519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88720" y="4178808"/>
            <a:ext cx="512064" cy="512064"/>
          </a:xfrm>
          <a:prstGeom prst="ellipse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4187952"/>
            <a:ext cx="5120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0F15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65376" y="4178808"/>
            <a:ext cx="3886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F0EDE5"/>
                </a:solidFill>
                <a:latin typeface="微软雅黑"/>
                <a:ea typeface="微软雅黑"/>
              </a:rPr>
              <a:t>为担当而奉献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9BA3B2"/>
                </a:solidFill>
                <a:latin typeface="微软雅黑"/>
                <a:ea typeface="微软雅黑"/>
              </a:rPr>
              <a:t>在服务他人、奉献社会中实现价值，做有责任感的青年。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886200"/>
            <a:ext cx="5102352" cy="1874519"/>
          </a:xfrm>
          <a:prstGeom prst="roundRect">
            <a:avLst>
              <a:gd name="adj" fmla="val 7000"/>
            </a:avLst>
          </a:prstGeom>
          <a:solidFill>
            <a:srgbClr val="1A1F2A"/>
          </a:solidFill>
          <a:ln w="12700">
            <a:solidFill>
              <a:srgbClr val="34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886200"/>
            <a:ext cx="91440" cy="1874519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629400" y="4178808"/>
            <a:ext cx="512064" cy="512064"/>
          </a:xfrm>
          <a:prstGeom prst="ellipse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4187952"/>
            <a:ext cx="5120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0F15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06055" y="4178808"/>
            <a:ext cx="3886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F0EDE5"/>
                </a:solidFill>
                <a:latin typeface="微软雅黑"/>
                <a:ea typeface="微软雅黑"/>
              </a:rPr>
              <a:t>为健康而自律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9BA3B2"/>
                </a:solidFill>
                <a:latin typeface="微软雅黑"/>
                <a:ea typeface="微软雅黑"/>
              </a:rPr>
              <a:t>强健体魄、磨炼意志、张弛有度，做有韧性的青年。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1920240"/>
            <a:ext cx="4206240" cy="4206240"/>
          </a:xfrm>
          <a:prstGeom prst="ellipse">
            <a:avLst/>
          </a:prstGeom>
          <a:solidFill>
            <a:srgbClr val="C9A344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852160"/>
            <a:ext cx="2377440" cy="2377440"/>
          </a:xfrm>
          <a:prstGeom prst="ellipse">
            <a:avLst/>
          </a:prstGeom>
          <a:solidFill>
            <a:srgbClr val="C9A344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502920"/>
            <a:ext cx="128016" cy="128016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5" y="420624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spc="240">
                <a:solidFill>
                  <a:srgbClr val="C9A344"/>
                </a:solidFill>
                <a:latin typeface="微软雅黑"/>
                <a:ea typeface="微软雅黑"/>
              </a:rPr>
              <a:t>WHAT NOT TO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841248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0EDE5"/>
                </a:solidFill>
                <a:latin typeface="微软雅黑"/>
                <a:ea typeface="微软雅黑"/>
              </a:rPr>
              <a:t>青年之「不为」· 不应做什么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27632"/>
            <a:ext cx="1737360" cy="27432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804672" y="1591056"/>
            <a:ext cx="100584" cy="100584"/>
          </a:xfrm>
          <a:prstGeom prst="diamond">
            <a:avLst/>
          </a:prstGeom>
          <a:solidFill>
            <a:srgbClr val="E7D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6528816"/>
            <a:ext cx="10543032" cy="10972"/>
          </a:xfrm>
          <a:prstGeom prst="rect">
            <a:avLst/>
          </a:prstGeom>
          <a:solidFill>
            <a:srgbClr val="282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0" y="6199632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C9A344"/>
                </a:solidFill>
                <a:latin typeface="微软雅黑"/>
                <a:ea typeface="微软雅黑"/>
              </a:rPr>
              <a:t>10</a:t>
            </a:r>
            <a:r>
              <a:rPr sz="1100" b="0">
                <a:solidFill>
                  <a:srgbClr val="666F80"/>
                </a:solidFill>
                <a:latin typeface="微软雅黑"/>
                <a:ea typeface="微软雅黑"/>
              </a:rPr>
              <a:t>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874519"/>
            <a:ext cx="5102352" cy="1874519"/>
          </a:xfrm>
          <a:prstGeom prst="roundRect">
            <a:avLst>
              <a:gd name="adj" fmla="val 7000"/>
            </a:avLst>
          </a:prstGeom>
          <a:solidFill>
            <a:srgbClr val="1A1F2A"/>
          </a:solidFill>
          <a:ln w="12700">
            <a:solidFill>
              <a:srgbClr val="34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1874519"/>
            <a:ext cx="91440" cy="1874519"/>
          </a:xfrm>
          <a:prstGeom prst="rect">
            <a:avLst/>
          </a:prstGeom>
          <a:solidFill>
            <a:srgbClr val="C6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88720" y="2167127"/>
            <a:ext cx="512064" cy="512064"/>
          </a:xfrm>
          <a:prstGeom prst="ellipse">
            <a:avLst/>
          </a:prstGeom>
          <a:solidFill>
            <a:srgbClr val="C6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176272"/>
            <a:ext cx="5120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0F15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65376" y="2167127"/>
            <a:ext cx="3886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F0EDE5"/>
                </a:solidFill>
                <a:latin typeface="微软雅黑"/>
                <a:ea typeface="微软雅黑"/>
              </a:rPr>
              <a:t>不为无效内卷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9BA3B2"/>
                </a:solidFill>
                <a:latin typeface="微软雅黑"/>
                <a:ea typeface="微软雅黑"/>
              </a:rPr>
              <a:t>拒绝盲目跟风、虚耗时日的低效竞争，把力气用在刀刃上。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874519"/>
            <a:ext cx="5102352" cy="1874519"/>
          </a:xfrm>
          <a:prstGeom prst="roundRect">
            <a:avLst>
              <a:gd name="adj" fmla="val 7000"/>
            </a:avLst>
          </a:prstGeom>
          <a:solidFill>
            <a:srgbClr val="1A1F2A"/>
          </a:solidFill>
          <a:ln w="12700">
            <a:solidFill>
              <a:srgbClr val="34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874519"/>
            <a:ext cx="91440" cy="1874519"/>
          </a:xfrm>
          <a:prstGeom prst="rect">
            <a:avLst/>
          </a:prstGeom>
          <a:solidFill>
            <a:srgbClr val="C6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29400" y="2167127"/>
            <a:ext cx="512064" cy="512064"/>
          </a:xfrm>
          <a:prstGeom prst="ellipse">
            <a:avLst/>
          </a:prstGeom>
          <a:solidFill>
            <a:srgbClr val="C6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2176272"/>
            <a:ext cx="5120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0F15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6055" y="2167127"/>
            <a:ext cx="3886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F0EDE5"/>
                </a:solidFill>
                <a:latin typeface="微软雅黑"/>
                <a:ea typeface="微软雅黑"/>
              </a:rPr>
              <a:t>不为消极躺平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9BA3B2"/>
                </a:solidFill>
                <a:latin typeface="微软雅黑"/>
                <a:ea typeface="微软雅黑"/>
              </a:rPr>
              <a:t>拒绝逃避责任、自暴自弃，不做“精致的利己”与“消极的看客”。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886200"/>
            <a:ext cx="5102352" cy="1874519"/>
          </a:xfrm>
          <a:prstGeom prst="roundRect">
            <a:avLst>
              <a:gd name="adj" fmla="val 7000"/>
            </a:avLst>
          </a:prstGeom>
          <a:solidFill>
            <a:srgbClr val="1A1F2A"/>
          </a:solidFill>
          <a:ln w="12700">
            <a:solidFill>
              <a:srgbClr val="34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3886200"/>
            <a:ext cx="91440" cy="1874519"/>
          </a:xfrm>
          <a:prstGeom prst="rect">
            <a:avLst/>
          </a:prstGeom>
          <a:solidFill>
            <a:srgbClr val="C6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88720" y="4178808"/>
            <a:ext cx="512064" cy="512064"/>
          </a:xfrm>
          <a:prstGeom prst="ellipse">
            <a:avLst/>
          </a:prstGeom>
          <a:solidFill>
            <a:srgbClr val="C6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4187952"/>
            <a:ext cx="5120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0F15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65376" y="4178808"/>
            <a:ext cx="3886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F0EDE5"/>
                </a:solidFill>
                <a:latin typeface="微软雅黑"/>
                <a:ea typeface="微软雅黑"/>
              </a:rPr>
              <a:t>不为攀比焦虑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9BA3B2"/>
                </a:solidFill>
                <a:latin typeface="微软雅黑"/>
                <a:ea typeface="微软雅黑"/>
              </a:rPr>
              <a:t>拒绝被单一标准绑架，不被分数、排名、面子牵着走。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886200"/>
            <a:ext cx="5102352" cy="1874519"/>
          </a:xfrm>
          <a:prstGeom prst="roundRect">
            <a:avLst>
              <a:gd name="adj" fmla="val 7000"/>
            </a:avLst>
          </a:prstGeom>
          <a:solidFill>
            <a:srgbClr val="1A1F2A"/>
          </a:solidFill>
          <a:ln w="12700">
            <a:solidFill>
              <a:srgbClr val="34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886200"/>
            <a:ext cx="91440" cy="1874519"/>
          </a:xfrm>
          <a:prstGeom prst="rect">
            <a:avLst/>
          </a:prstGeom>
          <a:solidFill>
            <a:srgbClr val="C6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629400" y="4178808"/>
            <a:ext cx="512064" cy="512064"/>
          </a:xfrm>
          <a:prstGeom prst="ellipse">
            <a:avLst/>
          </a:prstGeom>
          <a:solidFill>
            <a:srgbClr val="C6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4187952"/>
            <a:ext cx="5120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0F15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06055" y="4178808"/>
            <a:ext cx="3886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F0EDE5"/>
                </a:solidFill>
                <a:latin typeface="微软雅黑"/>
                <a:ea typeface="微软雅黑"/>
              </a:rPr>
              <a:t>不为急功近利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9BA3B2"/>
                </a:solidFill>
                <a:latin typeface="微软雅黑"/>
                <a:ea typeface="微软雅黑"/>
              </a:rPr>
              <a:t>拒绝投机取巧、走捷径，脚踏实地走好每一步。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1920240"/>
            <a:ext cx="4206240" cy="4206240"/>
          </a:xfrm>
          <a:prstGeom prst="ellipse">
            <a:avLst/>
          </a:prstGeom>
          <a:solidFill>
            <a:srgbClr val="C9A344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852160"/>
            <a:ext cx="2377440" cy="2377440"/>
          </a:xfrm>
          <a:prstGeom prst="ellipse">
            <a:avLst/>
          </a:prstGeom>
          <a:solidFill>
            <a:srgbClr val="C9A344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502920"/>
            <a:ext cx="128016" cy="128016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5" y="420624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spc="240">
                <a:solidFill>
                  <a:srgbClr val="C9A344"/>
                </a:solidFill>
                <a:latin typeface="微软雅黑"/>
                <a:ea typeface="微软雅黑"/>
              </a:rPr>
              <a:t>THE RIGHT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841248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0EDE5"/>
                </a:solidFill>
                <a:latin typeface="微软雅黑"/>
                <a:ea typeface="微软雅黑"/>
              </a:rPr>
              <a:t>正确选择 · 在奋斗与从容间找到平衡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27632"/>
            <a:ext cx="1737360" cy="27432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804672" y="1591056"/>
            <a:ext cx="100584" cy="100584"/>
          </a:xfrm>
          <a:prstGeom prst="diamond">
            <a:avLst/>
          </a:prstGeom>
          <a:solidFill>
            <a:srgbClr val="E7D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6528816"/>
            <a:ext cx="10543032" cy="10972"/>
          </a:xfrm>
          <a:prstGeom prst="rect">
            <a:avLst/>
          </a:prstGeom>
          <a:solidFill>
            <a:srgbClr val="282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0" y="6199632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C9A344"/>
                </a:solidFill>
                <a:latin typeface="微软雅黑"/>
                <a:ea typeface="微软雅黑"/>
              </a:rPr>
              <a:t>11</a:t>
            </a:r>
            <a:r>
              <a:rPr sz="1100" b="0">
                <a:solidFill>
                  <a:srgbClr val="666F80"/>
                </a:solidFill>
                <a:latin typeface="微软雅黑"/>
                <a:ea typeface="微软雅黑"/>
              </a:rPr>
              <a:t> / 12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1828800"/>
            <a:ext cx="502920" cy="502920"/>
          </a:xfrm>
          <a:prstGeom prst="ellipse">
            <a:avLst/>
          </a:prstGeom>
          <a:noFill/>
          <a:ln w="17780">
            <a:solidFill>
              <a:srgbClr val="C9A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500" b="1">
                <a:solidFill>
                  <a:srgbClr val="C9A344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2144" y="2331720"/>
            <a:ext cx="27432" cy="274320"/>
          </a:xfrm>
          <a:prstGeom prst="rect">
            <a:avLst/>
          </a:prstGeom>
          <a:solidFill>
            <a:srgbClr val="343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1810512"/>
            <a:ext cx="9509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0EDE5"/>
                </a:solidFill>
                <a:latin typeface="微软雅黑"/>
                <a:ea typeface="微软雅黑"/>
              </a:rPr>
              <a:t>奋斗是青春最亮丽的底色——人生因奋斗而精彩。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2596896"/>
            <a:ext cx="502920" cy="502920"/>
          </a:xfrm>
          <a:prstGeom prst="ellipse">
            <a:avLst/>
          </a:prstGeom>
          <a:noFill/>
          <a:ln w="17780">
            <a:solidFill>
              <a:srgbClr val="C9A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500" b="1">
                <a:solidFill>
                  <a:srgbClr val="C9A344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52144" y="3099816"/>
            <a:ext cx="27432" cy="274320"/>
          </a:xfrm>
          <a:prstGeom prst="rect">
            <a:avLst/>
          </a:prstGeom>
          <a:solidFill>
            <a:srgbClr val="343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91640" y="2578608"/>
            <a:ext cx="9509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0EDE5"/>
                </a:solidFill>
                <a:latin typeface="微软雅黑"/>
                <a:ea typeface="微软雅黑"/>
              </a:rPr>
              <a:t>拒绝无效内卷，追求高效成长——让努力更有意义。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3364992"/>
            <a:ext cx="502920" cy="502920"/>
          </a:xfrm>
          <a:prstGeom prst="ellipse">
            <a:avLst/>
          </a:prstGeom>
          <a:noFill/>
          <a:ln w="17780">
            <a:solidFill>
              <a:srgbClr val="C9A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500" b="1">
                <a:solidFill>
                  <a:srgbClr val="C9A344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52144" y="3867912"/>
            <a:ext cx="27432" cy="274320"/>
          </a:xfrm>
          <a:prstGeom prst="rect">
            <a:avLst/>
          </a:prstGeom>
          <a:solidFill>
            <a:srgbClr val="343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3346704"/>
            <a:ext cx="9509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0EDE5"/>
                </a:solidFill>
                <a:latin typeface="微软雅黑"/>
                <a:ea typeface="微软雅黑"/>
              </a:rPr>
              <a:t>避免消极躺平，保持向上姿态——让心态始终在线。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133088"/>
            <a:ext cx="502920" cy="502920"/>
          </a:xfrm>
          <a:prstGeom prst="ellipse">
            <a:avLst/>
          </a:prstGeom>
          <a:noFill/>
          <a:ln w="17780">
            <a:solidFill>
              <a:srgbClr val="C9A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500" b="1">
                <a:solidFill>
                  <a:srgbClr val="C9A344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14800"/>
            <a:ext cx="9509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0EDE5"/>
                </a:solidFill>
                <a:latin typeface="微软雅黑"/>
                <a:ea typeface="微软雅黑"/>
              </a:rPr>
              <a:t>找到自己的节奏，实现有意义的人生——不盲从、不虚度。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074920"/>
            <a:ext cx="10543032" cy="1005840"/>
          </a:xfrm>
          <a:prstGeom prst="roundRect">
            <a:avLst>
              <a:gd name="adj" fmla="val 8000"/>
            </a:avLst>
          </a:prstGeom>
          <a:solidFill>
            <a:srgbClr val="1A1F2A"/>
          </a:solidFill>
          <a:ln w="12700">
            <a:solidFill>
              <a:srgbClr val="343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5074920"/>
            <a:ext cx="91440" cy="1005840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0432" y="5193792"/>
            <a:ext cx="9875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spc="120">
                <a:solidFill>
                  <a:srgbClr val="E7D192"/>
                </a:solidFill>
                <a:latin typeface="微软雅黑"/>
                <a:ea typeface="微软雅黑"/>
              </a:rPr>
              <a:t>青春由磨砺而出彩，人生因奋斗而升华。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B2230"/>
              </a:gs>
              <a:gs pos="100000">
                <a:srgbClr val="0D0F15"/>
              </a:gs>
            </a:gsLst>
            <a:lin scaled="0" ang="1452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256032"/>
            <a:ext cx="11676888" cy="6345936"/>
          </a:xfrm>
          <a:prstGeom prst="rect">
            <a:avLst/>
          </a:prstGeom>
          <a:noFill/>
          <a:ln w="12700">
            <a:solidFill>
              <a:srgbClr val="8A7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0" y="-2468880"/>
            <a:ext cx="5486400" cy="5486400"/>
          </a:xfrm>
          <a:prstGeom prst="ellipse">
            <a:avLst/>
          </a:prstGeom>
          <a:solidFill>
            <a:srgbClr val="C9A344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011680" y="5029200"/>
            <a:ext cx="4389120" cy="4389120"/>
          </a:xfrm>
          <a:prstGeom prst="ellipse">
            <a:avLst/>
          </a:prstGeom>
          <a:solidFill>
            <a:srgbClr val="1B223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143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spc="240">
                <a:solidFill>
                  <a:srgbClr val="E7D192"/>
                </a:solidFill>
                <a:latin typeface="微软雅黑"/>
                <a:ea typeface="微软雅黑"/>
              </a:rPr>
              <a:t>结语 · 与青年共勉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7008" y="1828800"/>
            <a:ext cx="1645920" cy="36576"/>
          </a:xfrm>
          <a:prstGeom prst="rect">
            <a:avLst/>
          </a:prstGeom>
          <a:solidFill>
            <a:srgbClr val="C9A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377440"/>
            <a:ext cx="10241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 b="0" spc="60">
                <a:solidFill>
                  <a:srgbClr val="F0EDE5"/>
                </a:solidFill>
                <a:latin typeface="微软雅黑"/>
                <a:ea typeface="微软雅黑"/>
              </a:rPr>
              <a:t>内卷不可怕，可怕的是迷失方向的盲目消耗；</a:t>
            </a:r>
          </a:p>
          <a:p>
            <a:pPr>
              <a:spcAft>
                <a:spcPts val="1400"/>
              </a:spcAft>
            </a:pPr>
            <a:r>
              <a:rPr sz="2100" b="0" spc="60">
                <a:solidFill>
                  <a:srgbClr val="F0EDE5"/>
                </a:solidFill>
                <a:latin typeface="微软雅黑"/>
                <a:ea typeface="微软雅黑"/>
              </a:rPr>
              <a:t>躺平不可取，可贵的是张弛有度的清醒选择。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206240"/>
            <a:ext cx="10241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spc="240">
                <a:solidFill>
                  <a:srgbClr val="E7D192"/>
                </a:solidFill>
                <a:latin typeface="微软雅黑"/>
                <a:ea typeface="微软雅黑"/>
              </a:rPr>
              <a:t>愿每一位青年：</a:t>
            </a:r>
          </a:p>
          <a:p>
            <a:pPr algn="ctr">
              <a:spcBef>
                <a:spcPts val="1200"/>
              </a:spcBef>
            </a:pPr>
            <a:r>
              <a:rPr sz="1600" b="0" spc="60">
                <a:solidFill>
                  <a:srgbClr val="F0EDE5"/>
                </a:solidFill>
                <a:latin typeface="微软雅黑"/>
                <a:ea typeface="微软雅黑"/>
              </a:rPr>
              <a:t>在可为之事上全力以赴，在不可为之事上保持清醒，</a:t>
            </a:r>
          </a:p>
          <a:p>
            <a:pPr algn="ctr">
              <a:spcBef>
                <a:spcPts val="600"/>
              </a:spcBef>
            </a:pPr>
            <a:r>
              <a:rPr sz="1600" b="0" spc="60">
                <a:solidFill>
                  <a:srgbClr val="F0EDE5"/>
                </a:solidFill>
                <a:latin typeface="微软雅黑"/>
                <a:ea typeface="微软雅黑"/>
              </a:rPr>
              <a:t>拒绝无效内卷，不做消极躺平，书写无愧于时代的青春篇章。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98648" y="5760720"/>
            <a:ext cx="6400800" cy="566928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C9A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spc="60">
                <a:solidFill>
                  <a:srgbClr val="E7D192"/>
                </a:solidFill>
                <a:latin typeface="微软雅黑"/>
                <a:ea typeface="微软雅黑"/>
              </a:rPr>
              <a:t>课堂讨论：你如何看待身边的「内卷」与「躺平」？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